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25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00B5B"/>
            </a:gs>
            <a:gs pos="50000">
              <a:srgbClr val="6600FF"/>
            </a:gs>
            <a:gs pos="100000">
              <a:srgbClr val="200B5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41560" cy="6856560"/>
          </a:xfrm>
          <a:prstGeom prst="rect">
            <a:avLst/>
          </a:prstGeom>
          <a:ln w="12600">
            <a:noFill/>
          </a:ln>
        </p:spPr>
      </p:pic>
      <p:pic>
        <p:nvPicPr>
          <p:cNvPr id="5" name="Picture 1036"/>
          <p:cNvPicPr/>
          <p:nvPr/>
        </p:nvPicPr>
        <p:blipFill>
          <a:blip r:embed="rId14"/>
          <a:stretch/>
        </p:blipFill>
        <p:spPr>
          <a:xfrm>
            <a:off x="0" y="0"/>
            <a:ext cx="1370160" cy="6856560"/>
          </a:xfrm>
          <a:prstGeom prst="rect">
            <a:avLst/>
          </a:prstGeom>
          <a:ln w="126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41560" cy="6856560"/>
          </a:xfrm>
          <a:prstGeom prst="rect">
            <a:avLst/>
          </a:prstGeom>
          <a:ln w="1260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1523880" y="1009800"/>
            <a:ext cx="7313760" cy="21146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  </a:t>
            </a:r>
            <a:r>
              <a:rPr lang="en-US" sz="4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Redes</a:t>
            </a:r>
            <a:r>
              <a:rPr lang="en-US" sz="4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4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Neurais</a:t>
            </a:r>
            <a:r>
              <a:rPr lang="en-US" sz="4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4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Artificiais</a:t>
            </a:r>
            <a:endParaRPr lang="pt-BR" sz="4800" b="0" strike="noStrike" spc="-1" dirty="0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1523880" y="2666880"/>
            <a:ext cx="7008840" cy="3732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endParaRPr lang="pt-BR" sz="32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     </a:t>
            </a:r>
            <a:endParaRPr lang="pt-BR" sz="32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     Redes Multicamadas</a:t>
            </a:r>
            <a:endParaRPr lang="pt-BR" sz="32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           Prof. Keiji Yamanaka – PhD.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        Faculdade de Engenharia Elétrica – UFU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			</a:t>
            </a:r>
            <a:endParaRPr lang="pt-BR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1357200" y="1714320"/>
            <a:ext cx="7445880" cy="41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16000" indent="-21492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Rede de </a:t>
            </a: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uma camada 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tem restrição severa (não resolve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</a:t>
            </a: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problemas não linearmente separáveis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);</a:t>
            </a:r>
            <a:endParaRPr lang="pt-BR" sz="24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Minsky e Papert(1969)  mostram que redes de duas 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camadas resolvem a restrição mas não apresentam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solução para o problema de ajuste dos pesos da entrada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para a camada escondida;</a:t>
            </a:r>
            <a:endParaRPr lang="pt-BR" sz="24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Rumelhart, Hinton e Willian(1986) apresentam uma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solução;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Idéia: </a:t>
            </a: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corrigir os erros da camada escondida retropropagando o erro da saída.</a:t>
            </a:r>
            <a:endParaRPr lang="pt-BR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1357200" y="1714320"/>
            <a:ext cx="7445880" cy="52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Algoritmo da retropropagação do erro 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( error backpropagation) : generalização da regra delta para </a:t>
            </a: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funções de ativação não-lineares 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e </a:t>
            </a: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redes multicamadas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-  Topologia da rede: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1143000" y="6273360"/>
            <a:ext cx="7999560" cy="57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https://theclevermachine.wordpress.com/2014/09/06/derivation-error-backpropagation-gradient-descent-for-neural-networks/</a:t>
            </a:r>
            <a:endParaRPr lang="pt-BR" sz="1600" b="0" strike="noStrike" spc="-1">
              <a:latin typeface="Arial"/>
            </a:endParaRPr>
          </a:p>
        </p:txBody>
      </p:sp>
      <p:pic>
        <p:nvPicPr>
          <p:cNvPr id="86" name="Imagem 7" descr="ScreenHunter 201.png"/>
          <p:cNvPicPr/>
          <p:nvPr/>
        </p:nvPicPr>
        <p:blipFill>
          <a:blip r:embed="rId2"/>
          <a:stretch/>
        </p:blipFill>
        <p:spPr>
          <a:xfrm>
            <a:off x="4071960" y="3000240"/>
            <a:ext cx="4074840" cy="3190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1928880" y="1595160"/>
            <a:ext cx="6390720" cy="520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Características básicas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</a:t>
            </a:r>
            <a:endParaRPr lang="pt-BR" sz="24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Topologia: rede multicamada;</a:t>
            </a:r>
            <a:endParaRPr lang="pt-BR" sz="24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Função de ativação: não linear, diferenciável em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todos os seus pontos;</a:t>
            </a:r>
            <a:endParaRPr lang="pt-BR" sz="24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Algoritmo de aprendizado: supervisionado;</a:t>
            </a:r>
            <a:endParaRPr lang="pt-BR" sz="2400" b="0" strike="noStrike" spc="-1"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Regra de propagação: ( para o neurônio </a:t>
            </a:r>
            <a:r>
              <a:rPr lang="pt-BR" sz="2400" b="1" i="1" strike="noStrike" spc="-1">
                <a:solidFill>
                  <a:srgbClr val="EAEAEA"/>
                </a:solidFill>
                <a:latin typeface="Times New Roman"/>
                <a:ea typeface="DejaVu Sans"/>
              </a:rPr>
              <a:t>j 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)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onde: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3200" b="0" i="1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b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 bias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3200" b="0" i="1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a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 variável de entrada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3200" b="0" i="1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    w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 peso da conexão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89" name="Imagem 5" descr="ScreenHunter 202.png"/>
          <p:cNvPicPr/>
          <p:nvPr/>
        </p:nvPicPr>
        <p:blipFill>
          <a:blip r:embed="rId2"/>
          <a:stretch/>
        </p:blipFill>
        <p:spPr>
          <a:xfrm>
            <a:off x="3929040" y="4214880"/>
            <a:ext cx="3284640" cy="623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1500120" y="1428840"/>
            <a:ext cx="6390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-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Função de ativação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92" name="Imagem 8" descr="ScreenHunter 233.png"/>
          <p:cNvPicPr/>
          <p:nvPr/>
        </p:nvPicPr>
        <p:blipFill>
          <a:blip r:embed="rId2"/>
          <a:stretch/>
        </p:blipFill>
        <p:spPr>
          <a:xfrm>
            <a:off x="1643040" y="1956240"/>
            <a:ext cx="3284640" cy="2026440"/>
          </a:xfrm>
          <a:prstGeom prst="rect">
            <a:avLst/>
          </a:prstGeom>
          <a:ln w="0">
            <a:noFill/>
          </a:ln>
        </p:spPr>
      </p:pic>
      <p:pic>
        <p:nvPicPr>
          <p:cNvPr id="93" name="Imagem 9" descr="ScreenHunter 257.png"/>
          <p:cNvPicPr/>
          <p:nvPr/>
        </p:nvPicPr>
        <p:blipFill>
          <a:blip r:embed="rId3"/>
          <a:stretch/>
        </p:blipFill>
        <p:spPr>
          <a:xfrm>
            <a:off x="5357880" y="2428920"/>
            <a:ext cx="2284560" cy="1217520"/>
          </a:xfrm>
          <a:prstGeom prst="rect">
            <a:avLst/>
          </a:prstGeom>
          <a:ln w="0">
            <a:noFill/>
          </a:ln>
        </p:spPr>
      </p:pic>
      <p:pic>
        <p:nvPicPr>
          <p:cNvPr id="94" name="Imagem 10" descr="ScreenHunter 258.png"/>
          <p:cNvPicPr/>
          <p:nvPr/>
        </p:nvPicPr>
        <p:blipFill>
          <a:blip r:embed="rId4"/>
          <a:stretch/>
        </p:blipFill>
        <p:spPr>
          <a:xfrm>
            <a:off x="5429160" y="4500720"/>
            <a:ext cx="2427480" cy="1247040"/>
          </a:xfrm>
          <a:prstGeom prst="rect">
            <a:avLst/>
          </a:prstGeom>
          <a:ln w="0">
            <a:noFill/>
          </a:ln>
        </p:spPr>
      </p:pic>
      <p:pic>
        <p:nvPicPr>
          <p:cNvPr id="95" name="Imagem 11" descr="ScreenHunter 259.png"/>
          <p:cNvPicPr/>
          <p:nvPr/>
        </p:nvPicPr>
        <p:blipFill>
          <a:blip r:embed="rId5"/>
          <a:stretch/>
        </p:blipFill>
        <p:spPr>
          <a:xfrm>
            <a:off x="5429160" y="5929200"/>
            <a:ext cx="1999080" cy="551160"/>
          </a:xfrm>
          <a:prstGeom prst="rect">
            <a:avLst/>
          </a:prstGeom>
          <a:ln w="0">
            <a:noFill/>
          </a:ln>
        </p:spPr>
      </p:pic>
      <p:pic>
        <p:nvPicPr>
          <p:cNvPr id="96" name="Imagem 12" descr="ScreenHunter 260.png"/>
          <p:cNvPicPr/>
          <p:nvPr/>
        </p:nvPicPr>
        <p:blipFill>
          <a:blip r:embed="rId6"/>
          <a:stretch/>
        </p:blipFill>
        <p:spPr>
          <a:xfrm>
            <a:off x="1714320" y="4143240"/>
            <a:ext cx="3213360" cy="2509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1500120" y="1428840"/>
            <a:ext cx="63907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-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de aprendizado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 minimização do erro quadrático pelo método do gradiente descendente.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99" name="Imagem 7" descr="ScreenHunter 218.png"/>
          <p:cNvPicPr/>
          <p:nvPr/>
        </p:nvPicPr>
        <p:blipFill>
          <a:blip r:embed="rId2"/>
          <a:stretch/>
        </p:blipFill>
        <p:spPr>
          <a:xfrm>
            <a:off x="2857320" y="2714760"/>
            <a:ext cx="3828240" cy="856080"/>
          </a:xfrm>
          <a:prstGeom prst="rect">
            <a:avLst/>
          </a:prstGeom>
          <a:ln w="0">
            <a:noFill/>
          </a:ln>
        </p:spPr>
      </p:pic>
      <p:sp>
        <p:nvSpPr>
          <p:cNvPr id="100" name="CustomShape 3"/>
          <p:cNvSpPr/>
          <p:nvPr/>
        </p:nvSpPr>
        <p:spPr>
          <a:xfrm>
            <a:off x="1428840" y="4324680"/>
            <a:ext cx="6390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-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Erro quadrático 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dos neurônios de saída: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01" name="Imagem 11" descr="erroquadratico.png"/>
          <p:cNvPicPr/>
          <p:nvPr/>
        </p:nvPicPr>
        <p:blipFill>
          <a:blip r:embed="rId3"/>
          <a:stretch/>
        </p:blipFill>
        <p:spPr>
          <a:xfrm>
            <a:off x="2786040" y="4929120"/>
            <a:ext cx="4141800" cy="15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1500120" y="1428840"/>
            <a:ext cx="639072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buClr>
                <a:srgbClr val="EAEAEA"/>
              </a:buClr>
              <a:buFont typeface="StarSymbol"/>
              <a:buAutoNum type="alphaLcParenR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Ajuste dos pesos          dos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neurônios de saída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</a:t>
            </a: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Cálculo do gradiente:</a:t>
            </a: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</p:txBody>
      </p:sp>
      <p:pic>
        <p:nvPicPr>
          <p:cNvPr id="104" name="Imagem 6" descr="ScreenHunter 204.png"/>
          <p:cNvPicPr/>
          <p:nvPr/>
        </p:nvPicPr>
        <p:blipFill>
          <a:blip r:embed="rId2"/>
          <a:stretch/>
        </p:blipFill>
        <p:spPr>
          <a:xfrm>
            <a:off x="4214880" y="1500120"/>
            <a:ext cx="493920" cy="374760"/>
          </a:xfrm>
          <a:prstGeom prst="rect">
            <a:avLst/>
          </a:prstGeom>
          <a:ln w="0">
            <a:noFill/>
          </a:ln>
        </p:spPr>
      </p:pic>
      <p:pic>
        <p:nvPicPr>
          <p:cNvPr id="105" name="Imagem 11" descr="ScreenHunter 210.png"/>
          <p:cNvPicPr/>
          <p:nvPr/>
        </p:nvPicPr>
        <p:blipFill>
          <a:blip r:embed="rId3"/>
          <a:stretch/>
        </p:blipFill>
        <p:spPr>
          <a:xfrm>
            <a:off x="2928960" y="2500200"/>
            <a:ext cx="4088880" cy="1080000"/>
          </a:xfrm>
          <a:prstGeom prst="rect">
            <a:avLst/>
          </a:prstGeom>
          <a:ln w="0">
            <a:noFill/>
          </a:ln>
        </p:spPr>
      </p:pic>
      <p:pic>
        <p:nvPicPr>
          <p:cNvPr id="106" name="Imagem 13" descr="ScreenHunter 212.png"/>
          <p:cNvPicPr/>
          <p:nvPr/>
        </p:nvPicPr>
        <p:blipFill>
          <a:blip r:embed="rId4"/>
          <a:stretch/>
        </p:blipFill>
        <p:spPr>
          <a:xfrm>
            <a:off x="2928960" y="4857840"/>
            <a:ext cx="4384080" cy="1641600"/>
          </a:xfrm>
          <a:prstGeom prst="rect">
            <a:avLst/>
          </a:prstGeom>
          <a:ln w="0">
            <a:noFill/>
          </a:ln>
        </p:spPr>
      </p:pic>
      <p:sp>
        <p:nvSpPr>
          <p:cNvPr id="107" name="CustomShape 3"/>
          <p:cNvSpPr/>
          <p:nvPr/>
        </p:nvSpPr>
        <p:spPr>
          <a:xfrm>
            <a:off x="2065320" y="4000680"/>
            <a:ext cx="85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como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08" name="CustomShape 4"/>
          <p:cNvSpPr/>
          <p:nvPr/>
        </p:nvSpPr>
        <p:spPr>
          <a:xfrm>
            <a:off x="1932840" y="5429160"/>
            <a:ext cx="986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temos,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09" name="Imagem 17" descr="ScreenHunter 211.png"/>
          <p:cNvPicPr/>
          <p:nvPr/>
        </p:nvPicPr>
        <p:blipFill>
          <a:blip r:embed="rId5"/>
          <a:stretch/>
        </p:blipFill>
        <p:spPr>
          <a:xfrm>
            <a:off x="3000240" y="3999960"/>
            <a:ext cx="2070360" cy="556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143000" y="1428840"/>
            <a:ext cx="63907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1225080" y="4477320"/>
            <a:ext cx="230760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e,  como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Ajuste dos pesos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dos neurônios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de saída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1370880" y="2905920"/>
            <a:ext cx="35283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O gradiente da função erro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é dado por 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</p:txBody>
      </p:sp>
      <p:pic>
        <p:nvPicPr>
          <p:cNvPr id="114" name="Imagem 10" descr="ScreenHunter 214.png"/>
          <p:cNvPicPr/>
          <p:nvPr/>
        </p:nvPicPr>
        <p:blipFill>
          <a:blip r:embed="rId2"/>
          <a:stretch/>
        </p:blipFill>
        <p:spPr>
          <a:xfrm>
            <a:off x="2419200" y="2191320"/>
            <a:ext cx="2756880" cy="664560"/>
          </a:xfrm>
          <a:prstGeom prst="rect">
            <a:avLst/>
          </a:prstGeom>
          <a:ln w="0">
            <a:noFill/>
          </a:ln>
        </p:spPr>
      </p:pic>
      <p:pic>
        <p:nvPicPr>
          <p:cNvPr id="115" name="Imagem 16" descr="ScreenHunter 215.png"/>
          <p:cNvPicPr/>
          <p:nvPr/>
        </p:nvPicPr>
        <p:blipFill>
          <a:blip r:embed="rId3"/>
          <a:stretch/>
        </p:blipFill>
        <p:spPr>
          <a:xfrm>
            <a:off x="2000160" y="3787920"/>
            <a:ext cx="3356280" cy="578520"/>
          </a:xfrm>
          <a:prstGeom prst="rect">
            <a:avLst/>
          </a:prstGeom>
          <a:ln w="0">
            <a:noFill/>
          </a:ln>
        </p:spPr>
      </p:pic>
      <p:sp>
        <p:nvSpPr>
          <p:cNvPr id="116" name="CustomShape 5"/>
          <p:cNvSpPr/>
          <p:nvPr/>
        </p:nvSpPr>
        <p:spPr>
          <a:xfrm>
            <a:off x="1361160" y="1629360"/>
            <a:ext cx="91764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como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então,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17" name="Imagem 19" descr="ScreenHunter 218.png"/>
          <p:cNvPicPr/>
          <p:nvPr/>
        </p:nvPicPr>
        <p:blipFill>
          <a:blip r:embed="rId4"/>
          <a:stretch/>
        </p:blipFill>
        <p:spPr>
          <a:xfrm>
            <a:off x="2643120" y="4512600"/>
            <a:ext cx="2713320" cy="606240"/>
          </a:xfrm>
          <a:prstGeom prst="rect">
            <a:avLst/>
          </a:prstGeom>
          <a:ln w="0">
            <a:noFill/>
          </a:ln>
        </p:spPr>
      </p:pic>
      <p:pic>
        <p:nvPicPr>
          <p:cNvPr id="118" name="Imagem 20" descr="atualizacaopesossaida.png"/>
          <p:cNvPicPr/>
          <p:nvPr/>
        </p:nvPicPr>
        <p:blipFill>
          <a:blip r:embed="rId5"/>
          <a:stretch/>
        </p:blipFill>
        <p:spPr>
          <a:xfrm>
            <a:off x="3214800" y="5715000"/>
            <a:ext cx="5213520" cy="605880"/>
          </a:xfrm>
          <a:prstGeom prst="rect">
            <a:avLst/>
          </a:prstGeom>
          <a:ln w="0">
            <a:noFill/>
          </a:ln>
        </p:spPr>
      </p:pic>
      <p:pic>
        <p:nvPicPr>
          <p:cNvPr id="119" name="Imagem 11" descr="ScreenHunter 213.png"/>
          <p:cNvPicPr/>
          <p:nvPr/>
        </p:nvPicPr>
        <p:blipFill>
          <a:blip r:embed="rId6"/>
          <a:stretch/>
        </p:blipFill>
        <p:spPr>
          <a:xfrm>
            <a:off x="2347920" y="1568520"/>
            <a:ext cx="3070440" cy="506880"/>
          </a:xfrm>
          <a:prstGeom prst="rect">
            <a:avLst/>
          </a:prstGeom>
          <a:ln w="0">
            <a:noFill/>
          </a:ln>
        </p:spPr>
      </p:pic>
      <p:pic>
        <p:nvPicPr>
          <p:cNvPr id="120" name="Imagem 12" descr="ScreenHunter 201.png"/>
          <p:cNvPicPr/>
          <p:nvPr/>
        </p:nvPicPr>
        <p:blipFill>
          <a:blip r:embed="rId7"/>
          <a:stretch/>
        </p:blipFill>
        <p:spPr>
          <a:xfrm>
            <a:off x="5573880" y="1428840"/>
            <a:ext cx="3283200" cy="2570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1500120" y="1428840"/>
            <a:ext cx="6390720" cy="29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Ajuste dos </a:t>
            </a: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pesos</a:t>
            </a: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Se considerarmos </a:t>
            </a: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</p:txBody>
      </p:sp>
      <p:sp>
        <p:nvSpPr>
          <p:cNvPr id="123" name="CustomShape 3"/>
          <p:cNvSpPr/>
          <p:nvPr/>
        </p:nvSpPr>
        <p:spPr>
          <a:xfrm>
            <a:off x="2067120" y="4824720"/>
            <a:ext cx="11127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Assim, 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24" name="CustomShape 4"/>
          <p:cNvSpPr/>
          <p:nvPr/>
        </p:nvSpPr>
        <p:spPr>
          <a:xfrm>
            <a:off x="2151360" y="3967560"/>
            <a:ext cx="986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temos,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25" name="Imagem 9" descr="ScreenHunter 216.png"/>
          <p:cNvPicPr/>
          <p:nvPr/>
        </p:nvPicPr>
        <p:blipFill>
          <a:blip r:embed="rId2"/>
          <a:stretch/>
        </p:blipFill>
        <p:spPr>
          <a:xfrm>
            <a:off x="3929040" y="2857320"/>
            <a:ext cx="3356640" cy="551880"/>
          </a:xfrm>
          <a:prstGeom prst="rect">
            <a:avLst/>
          </a:prstGeom>
          <a:ln w="0">
            <a:noFill/>
          </a:ln>
        </p:spPr>
      </p:pic>
      <p:pic>
        <p:nvPicPr>
          <p:cNvPr id="126" name="Imagem 10" descr="ScreenHunter 217.png"/>
          <p:cNvPicPr/>
          <p:nvPr/>
        </p:nvPicPr>
        <p:blipFill>
          <a:blip r:embed="rId3"/>
          <a:stretch/>
        </p:blipFill>
        <p:spPr>
          <a:xfrm>
            <a:off x="3214800" y="3848040"/>
            <a:ext cx="1940400" cy="722520"/>
          </a:xfrm>
          <a:prstGeom prst="rect">
            <a:avLst/>
          </a:prstGeom>
          <a:ln w="0">
            <a:noFill/>
          </a:ln>
        </p:spPr>
      </p:pic>
      <p:pic>
        <p:nvPicPr>
          <p:cNvPr id="127" name="Imagem 16" descr="atualizacaopesossaida - Copia.png"/>
          <p:cNvPicPr/>
          <p:nvPr/>
        </p:nvPicPr>
        <p:blipFill>
          <a:blip r:embed="rId4"/>
          <a:stretch/>
        </p:blipFill>
        <p:spPr>
          <a:xfrm>
            <a:off x="2571840" y="5429520"/>
            <a:ext cx="4131720" cy="855720"/>
          </a:xfrm>
          <a:prstGeom prst="rect">
            <a:avLst/>
          </a:prstGeom>
          <a:ln w="0">
            <a:noFill/>
          </a:ln>
        </p:spPr>
      </p:pic>
      <p:pic>
        <p:nvPicPr>
          <p:cNvPr id="128" name="Imagem 8" descr="atualizacaopesossaida.png"/>
          <p:cNvPicPr/>
          <p:nvPr/>
        </p:nvPicPr>
        <p:blipFill>
          <a:blip r:embed="rId5"/>
          <a:stretch/>
        </p:blipFill>
        <p:spPr>
          <a:xfrm>
            <a:off x="3071880" y="1857240"/>
            <a:ext cx="5213520" cy="605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1500120" y="1428840"/>
            <a:ext cx="639072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Atualização dos bias         dos neurônios de saída:</a:t>
            </a: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2722680" y="5857920"/>
            <a:ext cx="26215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Ajuste dos bias dos 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neurônios de saída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32" name="Imagem 9" descr="ScreenHunter 205.png"/>
          <p:cNvPicPr/>
          <p:nvPr/>
        </p:nvPicPr>
        <p:blipFill>
          <a:blip r:embed="rId2"/>
          <a:stretch/>
        </p:blipFill>
        <p:spPr>
          <a:xfrm>
            <a:off x="4279680" y="1535400"/>
            <a:ext cx="290880" cy="320400"/>
          </a:xfrm>
          <a:prstGeom prst="rect">
            <a:avLst/>
          </a:prstGeom>
          <a:ln w="0">
            <a:noFill/>
          </a:ln>
        </p:spPr>
      </p:pic>
      <p:pic>
        <p:nvPicPr>
          <p:cNvPr id="133" name="Imagem 10" descr="ScreenHunter 210 - Copia.png"/>
          <p:cNvPicPr/>
          <p:nvPr/>
        </p:nvPicPr>
        <p:blipFill>
          <a:blip r:embed="rId3"/>
          <a:stretch/>
        </p:blipFill>
        <p:spPr>
          <a:xfrm>
            <a:off x="1214280" y="2123280"/>
            <a:ext cx="3856320" cy="1018440"/>
          </a:xfrm>
          <a:prstGeom prst="rect">
            <a:avLst/>
          </a:prstGeom>
          <a:ln w="0">
            <a:noFill/>
          </a:ln>
        </p:spPr>
      </p:pic>
      <p:pic>
        <p:nvPicPr>
          <p:cNvPr id="134" name="Imagem 16" descr="ScreenHunter 212 - Copia.png"/>
          <p:cNvPicPr/>
          <p:nvPr/>
        </p:nvPicPr>
        <p:blipFill>
          <a:blip r:embed="rId4"/>
          <a:stretch/>
        </p:blipFill>
        <p:spPr>
          <a:xfrm>
            <a:off x="5214960" y="2143080"/>
            <a:ext cx="3812040" cy="1427400"/>
          </a:xfrm>
          <a:prstGeom prst="rect">
            <a:avLst/>
          </a:prstGeom>
          <a:ln w="0">
            <a:noFill/>
          </a:ln>
        </p:spPr>
      </p:pic>
      <p:pic>
        <p:nvPicPr>
          <p:cNvPr id="135" name="Imagem 19" descr="ScreenHunter 213.png"/>
          <p:cNvPicPr/>
          <p:nvPr/>
        </p:nvPicPr>
        <p:blipFill>
          <a:blip r:embed="rId5"/>
          <a:stretch/>
        </p:blipFill>
        <p:spPr>
          <a:xfrm>
            <a:off x="1285920" y="3357720"/>
            <a:ext cx="3213360" cy="530280"/>
          </a:xfrm>
          <a:prstGeom prst="rect">
            <a:avLst/>
          </a:prstGeom>
          <a:ln w="0">
            <a:noFill/>
          </a:ln>
        </p:spPr>
      </p:pic>
      <p:pic>
        <p:nvPicPr>
          <p:cNvPr id="136" name="Imagem 20" descr="ScreenHunter 243.png"/>
          <p:cNvPicPr/>
          <p:nvPr/>
        </p:nvPicPr>
        <p:blipFill>
          <a:blip r:embed="rId6"/>
          <a:stretch/>
        </p:blipFill>
        <p:spPr>
          <a:xfrm>
            <a:off x="1285920" y="4071960"/>
            <a:ext cx="5162760" cy="666000"/>
          </a:xfrm>
          <a:prstGeom prst="rect">
            <a:avLst/>
          </a:prstGeom>
          <a:ln w="0">
            <a:noFill/>
          </a:ln>
        </p:spPr>
      </p:pic>
      <p:pic>
        <p:nvPicPr>
          <p:cNvPr id="137" name="Imagem 21" descr="ScreenHunter 244.png"/>
          <p:cNvPicPr/>
          <p:nvPr/>
        </p:nvPicPr>
        <p:blipFill>
          <a:blip r:embed="rId7"/>
          <a:stretch/>
        </p:blipFill>
        <p:spPr>
          <a:xfrm>
            <a:off x="1285920" y="4857840"/>
            <a:ext cx="3213360" cy="891000"/>
          </a:xfrm>
          <a:prstGeom prst="rect">
            <a:avLst/>
          </a:prstGeom>
          <a:ln w="0">
            <a:noFill/>
          </a:ln>
        </p:spPr>
      </p:pic>
      <p:pic>
        <p:nvPicPr>
          <p:cNvPr id="138" name="Imagem 22" descr="ScreenHunter 218 - Copia.png"/>
          <p:cNvPicPr/>
          <p:nvPr/>
        </p:nvPicPr>
        <p:blipFill>
          <a:blip r:embed="rId8"/>
          <a:stretch/>
        </p:blipFill>
        <p:spPr>
          <a:xfrm>
            <a:off x="5357880" y="5000760"/>
            <a:ext cx="2427480" cy="595800"/>
          </a:xfrm>
          <a:prstGeom prst="rect">
            <a:avLst/>
          </a:prstGeom>
          <a:ln w="0">
            <a:noFill/>
          </a:ln>
        </p:spPr>
      </p:pic>
      <p:pic>
        <p:nvPicPr>
          <p:cNvPr id="139" name="Imagem 23" descr="ScreenHunter 218 - Copia - Copia.png"/>
          <p:cNvPicPr/>
          <p:nvPr/>
        </p:nvPicPr>
        <p:blipFill>
          <a:blip r:embed="rId9"/>
          <a:stretch/>
        </p:blipFill>
        <p:spPr>
          <a:xfrm>
            <a:off x="5357880" y="5857920"/>
            <a:ext cx="3227040" cy="855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500120" y="1428840"/>
            <a:ext cx="7285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b)   Ajuste dos pesos          dos </a:t>
            </a:r>
            <a:r>
              <a:rPr lang="pt-BR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neurônios escondidos</a:t>
            </a: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: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42" name="Imagem 9" descr="ScreenHunter 247.png"/>
          <p:cNvPicPr/>
          <p:nvPr/>
        </p:nvPicPr>
        <p:blipFill>
          <a:blip r:embed="rId2"/>
          <a:stretch/>
        </p:blipFill>
        <p:spPr>
          <a:xfrm>
            <a:off x="4257720" y="1560600"/>
            <a:ext cx="455760" cy="295200"/>
          </a:xfrm>
          <a:prstGeom prst="rect">
            <a:avLst/>
          </a:prstGeom>
          <a:ln w="0">
            <a:noFill/>
          </a:ln>
        </p:spPr>
      </p:pic>
      <p:pic>
        <p:nvPicPr>
          <p:cNvPr id="143" name="Imagem 19" descr="ScreenHunter 201.png"/>
          <p:cNvPicPr/>
          <p:nvPr/>
        </p:nvPicPr>
        <p:blipFill>
          <a:blip r:embed="rId3"/>
          <a:stretch/>
        </p:blipFill>
        <p:spPr>
          <a:xfrm>
            <a:off x="2357280" y="2214720"/>
            <a:ext cx="5570640" cy="4361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1500120" y="1643040"/>
            <a:ext cx="7285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buClr>
                <a:srgbClr val="EAEAEA"/>
              </a:buClr>
              <a:buFont typeface="StarSymbol"/>
              <a:buChar char="-"/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Cálculo do gradiente: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46" name="CustomShape 3"/>
          <p:cNvSpPr/>
          <p:nvPr/>
        </p:nvSpPr>
        <p:spPr>
          <a:xfrm>
            <a:off x="2065320" y="4000680"/>
            <a:ext cx="858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como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47" name="CustomShape 4"/>
          <p:cNvSpPr/>
          <p:nvPr/>
        </p:nvSpPr>
        <p:spPr>
          <a:xfrm>
            <a:off x="1932840" y="5429160"/>
            <a:ext cx="986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temos,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48" name="Imagem 16" descr="ScreenHunter 221.png"/>
          <p:cNvPicPr/>
          <p:nvPr/>
        </p:nvPicPr>
        <p:blipFill>
          <a:blip r:embed="rId2"/>
          <a:stretch/>
        </p:blipFill>
        <p:spPr>
          <a:xfrm>
            <a:off x="2928960" y="2409480"/>
            <a:ext cx="4248360" cy="1161000"/>
          </a:xfrm>
          <a:prstGeom prst="rect">
            <a:avLst/>
          </a:prstGeom>
          <a:ln w="0">
            <a:noFill/>
          </a:ln>
        </p:spPr>
      </p:pic>
      <p:pic>
        <p:nvPicPr>
          <p:cNvPr id="149" name="Imagem 17" descr="ScreenHunter 222.png"/>
          <p:cNvPicPr/>
          <p:nvPr/>
        </p:nvPicPr>
        <p:blipFill>
          <a:blip r:embed="rId3"/>
          <a:stretch/>
        </p:blipFill>
        <p:spPr>
          <a:xfrm>
            <a:off x="3000240" y="5000760"/>
            <a:ext cx="5034240" cy="1119600"/>
          </a:xfrm>
          <a:prstGeom prst="rect">
            <a:avLst/>
          </a:prstGeom>
          <a:ln w="0">
            <a:noFill/>
          </a:ln>
        </p:spPr>
      </p:pic>
      <p:pic>
        <p:nvPicPr>
          <p:cNvPr id="150" name="Imagem 10" descr="ScreenHunter 211.png"/>
          <p:cNvPicPr/>
          <p:nvPr/>
        </p:nvPicPr>
        <p:blipFill>
          <a:blip r:embed="rId4"/>
          <a:stretch/>
        </p:blipFill>
        <p:spPr>
          <a:xfrm>
            <a:off x="3000240" y="3999960"/>
            <a:ext cx="2070360" cy="556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52" name="CustomShape 2"/>
          <p:cNvSpPr/>
          <p:nvPr/>
        </p:nvSpPr>
        <p:spPr>
          <a:xfrm>
            <a:off x="1500120" y="1428840"/>
            <a:ext cx="63907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</p:txBody>
      </p:sp>
      <p:sp>
        <p:nvSpPr>
          <p:cNvPr id="153" name="CustomShape 3"/>
          <p:cNvSpPr/>
          <p:nvPr/>
        </p:nvSpPr>
        <p:spPr>
          <a:xfrm>
            <a:off x="1296720" y="2947680"/>
            <a:ext cx="15318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Regra da cadeia:</a:t>
            </a:r>
            <a:endParaRPr lang="pt-BR" sz="1600" b="0" strike="noStrike" spc="-1">
              <a:latin typeface="Arial"/>
            </a:endParaRPr>
          </a:p>
        </p:txBody>
      </p:sp>
      <p:pic>
        <p:nvPicPr>
          <p:cNvPr id="154" name="Imagem 22" descr="ScreenHunter 223.png"/>
          <p:cNvPicPr/>
          <p:nvPr/>
        </p:nvPicPr>
        <p:blipFill>
          <a:blip r:embed="rId2"/>
          <a:stretch/>
        </p:blipFill>
        <p:spPr>
          <a:xfrm>
            <a:off x="2928960" y="1428840"/>
            <a:ext cx="4713480" cy="1330200"/>
          </a:xfrm>
          <a:prstGeom prst="rect">
            <a:avLst/>
          </a:prstGeom>
          <a:ln w="0">
            <a:noFill/>
          </a:ln>
        </p:spPr>
      </p:pic>
      <p:pic>
        <p:nvPicPr>
          <p:cNvPr id="155" name="Imagem 6" descr="ScreenHunter 224.png"/>
          <p:cNvPicPr/>
          <p:nvPr/>
        </p:nvPicPr>
        <p:blipFill>
          <a:blip r:embed="rId3"/>
          <a:stretch/>
        </p:blipFill>
        <p:spPr>
          <a:xfrm>
            <a:off x="2928960" y="3000240"/>
            <a:ext cx="4747320" cy="3647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1500120" y="1428840"/>
            <a:ext cx="63907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</p:txBody>
      </p:sp>
      <p:sp>
        <p:nvSpPr>
          <p:cNvPr id="158" name="CustomShape 3"/>
          <p:cNvSpPr/>
          <p:nvPr/>
        </p:nvSpPr>
        <p:spPr>
          <a:xfrm>
            <a:off x="1577160" y="3357720"/>
            <a:ext cx="82296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fazendo</a:t>
            </a:r>
            <a:endParaRPr lang="pt-BR" sz="1600" b="0" strike="noStrike" spc="-1">
              <a:latin typeface="Arial"/>
            </a:endParaRPr>
          </a:p>
        </p:txBody>
      </p:sp>
      <p:pic>
        <p:nvPicPr>
          <p:cNvPr id="159" name="Imagem 6" descr="ScreenHunter 225.png"/>
          <p:cNvPicPr/>
          <p:nvPr/>
        </p:nvPicPr>
        <p:blipFill>
          <a:blip r:embed="rId2"/>
          <a:stretch/>
        </p:blipFill>
        <p:spPr>
          <a:xfrm>
            <a:off x="2357280" y="1714320"/>
            <a:ext cx="5213520" cy="1315080"/>
          </a:xfrm>
          <a:prstGeom prst="rect">
            <a:avLst/>
          </a:prstGeom>
          <a:ln w="0">
            <a:noFill/>
          </a:ln>
        </p:spPr>
      </p:pic>
      <p:pic>
        <p:nvPicPr>
          <p:cNvPr id="160" name="Imagem 7" descr="ScreenHunter 226.png"/>
          <p:cNvPicPr/>
          <p:nvPr/>
        </p:nvPicPr>
        <p:blipFill>
          <a:blip r:embed="rId3"/>
          <a:stretch/>
        </p:blipFill>
        <p:spPr>
          <a:xfrm>
            <a:off x="4286160" y="4000680"/>
            <a:ext cx="3856320" cy="956160"/>
          </a:xfrm>
          <a:prstGeom prst="rect">
            <a:avLst/>
          </a:prstGeom>
          <a:ln w="0">
            <a:noFill/>
          </a:ln>
        </p:spPr>
      </p:pic>
      <p:pic>
        <p:nvPicPr>
          <p:cNvPr id="161" name="Imagem 8" descr="ScreenHunter 227.png"/>
          <p:cNvPicPr/>
          <p:nvPr/>
        </p:nvPicPr>
        <p:blipFill>
          <a:blip r:embed="rId4"/>
          <a:stretch/>
        </p:blipFill>
        <p:spPr>
          <a:xfrm>
            <a:off x="2714760" y="3286080"/>
            <a:ext cx="3499200" cy="501120"/>
          </a:xfrm>
          <a:prstGeom prst="rect">
            <a:avLst/>
          </a:prstGeom>
          <a:ln w="0">
            <a:noFill/>
          </a:ln>
        </p:spPr>
      </p:pic>
      <p:sp>
        <p:nvSpPr>
          <p:cNvPr id="162" name="CustomShape 4"/>
          <p:cNvSpPr/>
          <p:nvPr/>
        </p:nvSpPr>
        <p:spPr>
          <a:xfrm>
            <a:off x="1305360" y="4000680"/>
            <a:ext cx="29779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obtemos a expressão do gradiente:</a:t>
            </a:r>
            <a:endParaRPr lang="pt-BR" sz="1600" b="0" strike="noStrike" spc="-1">
              <a:latin typeface="Arial"/>
            </a:endParaRPr>
          </a:p>
        </p:txBody>
      </p:sp>
      <p:pic>
        <p:nvPicPr>
          <p:cNvPr id="163" name="Imagem 10" descr="ajustepesoswij - Copia - Copia.png"/>
          <p:cNvPicPr/>
          <p:nvPr/>
        </p:nvPicPr>
        <p:blipFill>
          <a:blip r:embed="rId5"/>
          <a:stretch/>
        </p:blipFill>
        <p:spPr>
          <a:xfrm>
            <a:off x="4286160" y="5500800"/>
            <a:ext cx="3951000" cy="770040"/>
          </a:xfrm>
          <a:prstGeom prst="rect">
            <a:avLst/>
          </a:prstGeom>
          <a:ln w="0">
            <a:noFill/>
          </a:ln>
        </p:spPr>
      </p:pic>
      <p:sp>
        <p:nvSpPr>
          <p:cNvPr id="164" name="CustomShape 5"/>
          <p:cNvSpPr/>
          <p:nvPr/>
        </p:nvSpPr>
        <p:spPr>
          <a:xfrm>
            <a:off x="1982880" y="5572080"/>
            <a:ext cx="21916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ajuste dos pesos da 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camada escondida:</a:t>
            </a:r>
            <a:endParaRPr lang="pt-BR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1500120" y="1428840"/>
            <a:ext cx="728532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Atualização dos bias         dos neurônios escondidos:</a:t>
            </a: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</p:txBody>
      </p:sp>
      <p:pic>
        <p:nvPicPr>
          <p:cNvPr id="167" name="Imagem 14" descr="ScreenHunter 250.png"/>
          <p:cNvPicPr/>
          <p:nvPr/>
        </p:nvPicPr>
        <p:blipFill>
          <a:blip r:embed="rId2"/>
          <a:stretch/>
        </p:blipFill>
        <p:spPr>
          <a:xfrm>
            <a:off x="4286160" y="1428840"/>
            <a:ext cx="355680" cy="486000"/>
          </a:xfrm>
          <a:prstGeom prst="rect">
            <a:avLst/>
          </a:prstGeom>
          <a:ln w="0">
            <a:noFill/>
          </a:ln>
        </p:spPr>
      </p:pic>
      <p:pic>
        <p:nvPicPr>
          <p:cNvPr id="168" name="Imagem 17" descr="ScreenHunter 228.png"/>
          <p:cNvPicPr/>
          <p:nvPr/>
        </p:nvPicPr>
        <p:blipFill>
          <a:blip r:embed="rId3"/>
          <a:stretch/>
        </p:blipFill>
        <p:spPr>
          <a:xfrm>
            <a:off x="2214720" y="4286160"/>
            <a:ext cx="4713480" cy="1487880"/>
          </a:xfrm>
          <a:prstGeom prst="rect">
            <a:avLst/>
          </a:prstGeom>
          <a:ln w="0">
            <a:noFill/>
          </a:ln>
        </p:spPr>
      </p:pic>
      <p:pic>
        <p:nvPicPr>
          <p:cNvPr id="169" name="Imagem 24" descr="ScreenHunter 222 - Copia.png"/>
          <p:cNvPicPr/>
          <p:nvPr/>
        </p:nvPicPr>
        <p:blipFill>
          <a:blip r:embed="rId4"/>
          <a:stretch/>
        </p:blipFill>
        <p:spPr>
          <a:xfrm>
            <a:off x="2214720" y="3214800"/>
            <a:ext cx="4356360" cy="968760"/>
          </a:xfrm>
          <a:prstGeom prst="rect">
            <a:avLst/>
          </a:prstGeom>
          <a:ln w="0">
            <a:noFill/>
          </a:ln>
        </p:spPr>
      </p:pic>
      <p:pic>
        <p:nvPicPr>
          <p:cNvPr id="170" name="Imagem 25" descr="ScreenHunter 221 - Copia.png"/>
          <p:cNvPicPr/>
          <p:nvPr/>
        </p:nvPicPr>
        <p:blipFill>
          <a:blip r:embed="rId5"/>
          <a:stretch/>
        </p:blipFill>
        <p:spPr>
          <a:xfrm>
            <a:off x="2214720" y="2000160"/>
            <a:ext cx="5070600" cy="1104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Multicamadas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1500120" y="1428840"/>
            <a:ext cx="7285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Expressão </a:t>
            </a:r>
            <a:endParaRPr lang="pt-BR" sz="18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1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do gradiente:</a:t>
            </a:r>
            <a:endParaRPr lang="pt-BR" sz="1800" b="0" strike="noStrike" spc="-1">
              <a:latin typeface="Arial"/>
            </a:endParaRPr>
          </a:p>
        </p:txBody>
      </p:sp>
      <p:pic>
        <p:nvPicPr>
          <p:cNvPr id="173" name="Imagem 10" descr="calculodebj.png"/>
          <p:cNvPicPr/>
          <p:nvPr/>
        </p:nvPicPr>
        <p:blipFill>
          <a:blip r:embed="rId2"/>
          <a:stretch/>
        </p:blipFill>
        <p:spPr>
          <a:xfrm>
            <a:off x="3214800" y="4929120"/>
            <a:ext cx="3141720" cy="771480"/>
          </a:xfrm>
          <a:prstGeom prst="rect">
            <a:avLst/>
          </a:prstGeom>
          <a:ln w="0">
            <a:noFill/>
          </a:ln>
        </p:spPr>
      </p:pic>
      <p:pic>
        <p:nvPicPr>
          <p:cNvPr id="174" name="Imagem 13" descr="ScreenHunter 254.png"/>
          <p:cNvPicPr/>
          <p:nvPr/>
        </p:nvPicPr>
        <p:blipFill>
          <a:blip r:embed="rId3"/>
          <a:stretch/>
        </p:blipFill>
        <p:spPr>
          <a:xfrm>
            <a:off x="2857320" y="1428840"/>
            <a:ext cx="4856400" cy="993960"/>
          </a:xfrm>
          <a:prstGeom prst="rect">
            <a:avLst/>
          </a:prstGeom>
          <a:ln w="0">
            <a:noFill/>
          </a:ln>
        </p:spPr>
      </p:pic>
      <p:sp>
        <p:nvSpPr>
          <p:cNvPr id="175" name="CustomShape 3"/>
          <p:cNvSpPr/>
          <p:nvPr/>
        </p:nvSpPr>
        <p:spPr>
          <a:xfrm>
            <a:off x="1357200" y="5143680"/>
            <a:ext cx="207036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0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ajuste dos bias </a:t>
            </a:r>
            <a:endParaRPr lang="pt-BR" sz="20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0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da camada </a:t>
            </a:r>
            <a:endParaRPr lang="pt-BR" sz="2000" b="0" strike="noStrike" spc="-1">
              <a:latin typeface="Arial"/>
            </a:endParaRPr>
          </a:p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000" b="0" strike="noStrike" spc="-1">
                <a:solidFill>
                  <a:srgbClr val="EEB00B"/>
                </a:solidFill>
                <a:latin typeface="Times New Roman"/>
                <a:ea typeface="DejaVu Sans"/>
              </a:rPr>
              <a:t>escondida:</a:t>
            </a:r>
            <a:endParaRPr lang="pt-BR" sz="2000" b="0" strike="noStrike" spc="-1">
              <a:latin typeface="Arial"/>
            </a:endParaRPr>
          </a:p>
        </p:txBody>
      </p:sp>
      <p:pic>
        <p:nvPicPr>
          <p:cNvPr id="176" name="Imagem 20" descr="calculodebj.png"/>
          <p:cNvPicPr/>
          <p:nvPr/>
        </p:nvPicPr>
        <p:blipFill>
          <a:blip r:embed="rId4"/>
          <a:stretch/>
        </p:blipFill>
        <p:spPr>
          <a:xfrm>
            <a:off x="3214800" y="5857920"/>
            <a:ext cx="2927520" cy="718920"/>
          </a:xfrm>
          <a:prstGeom prst="rect">
            <a:avLst/>
          </a:prstGeom>
          <a:ln w="0">
            <a:noFill/>
          </a:ln>
        </p:spPr>
      </p:pic>
      <p:sp>
        <p:nvSpPr>
          <p:cNvPr id="177" name="CustomShape 4"/>
          <p:cNvSpPr/>
          <p:nvPr/>
        </p:nvSpPr>
        <p:spPr>
          <a:xfrm>
            <a:off x="1428840" y="3429000"/>
            <a:ext cx="8557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5760">
              <a:lnSpc>
                <a:spcPct val="100000"/>
              </a:lnSpc>
              <a:tabLst>
                <a:tab pos="0" algn="l"/>
              </a:tabLst>
            </a:pPr>
            <a:r>
              <a:rPr lang="pt-BR" sz="20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temos</a:t>
            </a:r>
            <a:endParaRPr lang="pt-BR" sz="2000" b="0" strike="noStrike" spc="-1">
              <a:latin typeface="Arial"/>
            </a:endParaRPr>
          </a:p>
        </p:txBody>
      </p:sp>
      <p:pic>
        <p:nvPicPr>
          <p:cNvPr id="178" name="Imagem 22" descr="ScreenHunter 229.png"/>
          <p:cNvPicPr/>
          <p:nvPr/>
        </p:nvPicPr>
        <p:blipFill>
          <a:blip r:embed="rId5"/>
          <a:stretch/>
        </p:blipFill>
        <p:spPr>
          <a:xfrm>
            <a:off x="2826000" y="3286080"/>
            <a:ext cx="3316320" cy="867600"/>
          </a:xfrm>
          <a:prstGeom prst="rect">
            <a:avLst/>
          </a:prstGeom>
          <a:ln w="0">
            <a:noFill/>
          </a:ln>
        </p:spPr>
      </p:pic>
      <p:pic>
        <p:nvPicPr>
          <p:cNvPr id="179" name="Imagem 23" descr="ScreenHunter 216.png"/>
          <p:cNvPicPr/>
          <p:nvPr/>
        </p:nvPicPr>
        <p:blipFill>
          <a:blip r:embed="rId6"/>
          <a:stretch/>
        </p:blipFill>
        <p:spPr>
          <a:xfrm>
            <a:off x="2857320" y="2643120"/>
            <a:ext cx="2927520" cy="481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br/>
            <a:endParaRPr lang="pt-BR" sz="3600" b="0" strike="noStrike" spc="-1"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1143000" y="1428840"/>
            <a:ext cx="1922760" cy="970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tabLst>
                <a:tab pos="0" algn="l"/>
              </a:tabLst>
            </a:pPr>
            <a:endParaRPr lang="pt-BR" sz="180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tabLst>
                <a:tab pos="0" algn="l"/>
              </a:tabLst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Arquitetura: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82" name="Imagem 3" descr="ScreenHunter_161 Oct. 17 10.49.jpg"/>
          <p:cNvPicPr/>
          <p:nvPr/>
        </p:nvPicPr>
        <p:blipFill>
          <a:blip r:embed="rId2"/>
          <a:stretch/>
        </p:blipFill>
        <p:spPr>
          <a:xfrm>
            <a:off x="3071880" y="1928880"/>
            <a:ext cx="5763960" cy="4345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endParaRPr lang="pt-BR" sz="3600" b="0" strike="noStrike" spc="-1">
              <a:latin typeface="Arial"/>
            </a:endParaRPr>
          </a:p>
        </p:txBody>
      </p:sp>
      <p:pic>
        <p:nvPicPr>
          <p:cNvPr id="184" name="Imagem 5" descr="ScreenHunter_162 Oct. 17 10.49.jpg"/>
          <p:cNvPicPr/>
          <p:nvPr/>
        </p:nvPicPr>
        <p:blipFill>
          <a:blip r:embed="rId2"/>
          <a:stretch/>
        </p:blipFill>
        <p:spPr>
          <a:xfrm>
            <a:off x="2500200" y="1992240"/>
            <a:ext cx="6080400" cy="4216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endParaRPr lang="pt-BR" sz="3600" b="0" strike="noStrike" spc="-1">
              <a:latin typeface="Arial"/>
            </a:endParaRPr>
          </a:p>
        </p:txBody>
      </p:sp>
      <p:pic>
        <p:nvPicPr>
          <p:cNvPr id="186" name="Imagem 3" descr="ScreenHunter_163 Oct. 17 10.50.jpg"/>
          <p:cNvPicPr/>
          <p:nvPr/>
        </p:nvPicPr>
        <p:blipFill>
          <a:blip r:embed="rId2"/>
          <a:stretch/>
        </p:blipFill>
        <p:spPr>
          <a:xfrm>
            <a:off x="2143080" y="1714320"/>
            <a:ext cx="5891760" cy="2570400"/>
          </a:xfrm>
          <a:prstGeom prst="rect">
            <a:avLst/>
          </a:prstGeom>
          <a:ln w="0">
            <a:noFill/>
          </a:ln>
        </p:spPr>
      </p:pic>
      <p:pic>
        <p:nvPicPr>
          <p:cNvPr id="187" name="Imagem 4" descr="ScreenHunter_164 Oct. 17 10.50.jpg"/>
          <p:cNvPicPr/>
          <p:nvPr/>
        </p:nvPicPr>
        <p:blipFill>
          <a:blip r:embed="rId3"/>
          <a:stretch/>
        </p:blipFill>
        <p:spPr>
          <a:xfrm>
            <a:off x="3071880" y="4429080"/>
            <a:ext cx="4046760" cy="2063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endParaRPr lang="pt-BR" sz="3600" b="0" strike="noStrike" spc="-1">
              <a:latin typeface="Arial"/>
            </a:endParaRPr>
          </a:p>
        </p:txBody>
      </p:sp>
      <p:pic>
        <p:nvPicPr>
          <p:cNvPr id="189" name="Imagem 3" descr="ScreenHunter_165 Oct. 17 10.51.jpg"/>
          <p:cNvPicPr/>
          <p:nvPr/>
        </p:nvPicPr>
        <p:blipFill>
          <a:blip r:embed="rId2"/>
          <a:stretch/>
        </p:blipFill>
        <p:spPr>
          <a:xfrm>
            <a:off x="2048040" y="1571760"/>
            <a:ext cx="6580080" cy="4842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endParaRPr lang="pt-BR" sz="3600" b="0" strike="noStrike" spc="-1">
              <a:latin typeface="Arial"/>
            </a:endParaRPr>
          </a:p>
        </p:txBody>
      </p:sp>
      <p:pic>
        <p:nvPicPr>
          <p:cNvPr id="191" name="Imagem 4" descr="ScreenHunter_166 Oct. 17 10.52.jpg"/>
          <p:cNvPicPr/>
          <p:nvPr/>
        </p:nvPicPr>
        <p:blipFill>
          <a:blip r:embed="rId2"/>
          <a:stretch/>
        </p:blipFill>
        <p:spPr>
          <a:xfrm>
            <a:off x="3929040" y="1571760"/>
            <a:ext cx="4651560" cy="5028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endParaRPr lang="pt-BR" sz="3600" b="0" strike="noStrike" spc="-1">
              <a:latin typeface="Arial"/>
            </a:endParaRPr>
          </a:p>
        </p:txBody>
      </p:sp>
      <p:pic>
        <p:nvPicPr>
          <p:cNvPr id="193" name="Imagem 3" descr="ScreenHunter_167 Oct. 17 10.53.jpg"/>
          <p:cNvPicPr/>
          <p:nvPr/>
        </p:nvPicPr>
        <p:blipFill>
          <a:blip r:embed="rId2"/>
          <a:stretch/>
        </p:blipFill>
        <p:spPr>
          <a:xfrm>
            <a:off x="3929040" y="1714320"/>
            <a:ext cx="5080320" cy="498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219320" y="304920"/>
            <a:ext cx="7770960" cy="120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Algoritmo da retropropagação do erro</a:t>
            </a:r>
            <a:endParaRPr lang="pt-BR" sz="3600" b="0" strike="noStrike" spc="-1">
              <a:latin typeface="Arial"/>
            </a:endParaRPr>
          </a:p>
        </p:txBody>
      </p:sp>
      <p:pic>
        <p:nvPicPr>
          <p:cNvPr id="195" name="Imagem 4" descr="ScreenHunter_168 Oct. 17 10.53.jpg"/>
          <p:cNvPicPr/>
          <p:nvPr/>
        </p:nvPicPr>
        <p:blipFill>
          <a:blip r:embed="rId2"/>
          <a:stretch/>
        </p:blipFill>
        <p:spPr>
          <a:xfrm>
            <a:off x="3429000" y="2435040"/>
            <a:ext cx="5565960" cy="2547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1877040" y="346320"/>
            <a:ext cx="6975720" cy="152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0" strike="noStrike" spc="-1" dirty="0">
                <a:solidFill>
                  <a:srgbClr val="FFC000"/>
                </a:solidFill>
                <a:latin typeface="Arial"/>
                <a:ea typeface="DejaVu Sans"/>
              </a:rPr>
              <a:t>Trabalho 06: Aproximação Funcional</a:t>
            </a: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1) treinar uma rede neural multicamada(MLP) para aproximar 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    uma função a partir dos pontos amostrados.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   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  </a:t>
            </a:r>
            <a:endParaRPr lang="pt-BR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 dirty="0"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1364040" y="2349360"/>
            <a:ext cx="7203960" cy="102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pt-BR" sz="1800" b="0" strike="noStrike" spc="-1" dirty="0">
                <a:solidFill>
                  <a:schemeClr val="bg1"/>
                </a:solidFill>
                <a:latin typeface="Arial"/>
              </a:rPr>
              <a:t>Pontos amostrados:</a:t>
            </a:r>
          </a:p>
          <a:p>
            <a:endParaRPr lang="pt-BR" sz="1800" b="0" strike="noStrike" spc="-1" dirty="0">
              <a:solidFill>
                <a:schemeClr val="bg1"/>
              </a:solidFill>
              <a:latin typeface="Arial"/>
            </a:endParaRPr>
          </a:p>
          <a:p>
            <a:r>
              <a:rPr lang="pt-BR" sz="1500" b="0" strike="noStrike" spc="-1" dirty="0">
                <a:solidFill>
                  <a:schemeClr val="bg1"/>
                </a:solidFill>
                <a:latin typeface="Arial"/>
              </a:rPr>
              <a:t>x = [   0        .1         .2         .3       .4        .5        .6         .7       .8        .9       1.0   ];</a:t>
            </a:r>
          </a:p>
          <a:p>
            <a:r>
              <a:rPr lang="pt-BR" sz="1500" b="0" strike="noStrike" spc="-1" dirty="0">
                <a:solidFill>
                  <a:schemeClr val="bg1"/>
                </a:solidFill>
                <a:latin typeface="Arial"/>
              </a:rPr>
              <a:t>t = [-.9602 -.5770 -.0729  .3771  .6405  .6600  .4609 .1336 -.2013 -.4344 -.5000 ];</a:t>
            </a:r>
          </a:p>
        </p:txBody>
      </p:sp>
      <p:pic>
        <p:nvPicPr>
          <p:cNvPr id="41" name="Imagem 40"/>
          <p:cNvPicPr/>
          <p:nvPr/>
        </p:nvPicPr>
        <p:blipFill>
          <a:blip r:embed="rId2"/>
          <a:stretch/>
        </p:blipFill>
        <p:spPr>
          <a:xfrm>
            <a:off x="1296000" y="3528000"/>
            <a:ext cx="3711240" cy="2808000"/>
          </a:xfrm>
          <a:prstGeom prst="rect">
            <a:avLst/>
          </a:prstGeom>
          <a:ln w="0">
            <a:noFill/>
          </a:ln>
        </p:spPr>
      </p:pic>
      <p:pic>
        <p:nvPicPr>
          <p:cNvPr id="42" name="Imagem 41"/>
          <p:cNvPicPr/>
          <p:nvPr/>
        </p:nvPicPr>
        <p:blipFill>
          <a:blip r:embed="rId3"/>
          <a:stretch/>
        </p:blipFill>
        <p:spPr>
          <a:xfrm>
            <a:off x="5253480" y="3517920"/>
            <a:ext cx="3625200" cy="2808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6E0D263096AE543989EDC63A5F204DE" ma:contentTypeVersion="3" ma:contentTypeDescription="Crie um novo documento." ma:contentTypeScope="" ma:versionID="6b46a758bcee6fc954b4405472999535">
  <xsd:schema xmlns:xsd="http://www.w3.org/2001/XMLSchema" xmlns:xs="http://www.w3.org/2001/XMLSchema" xmlns:p="http://schemas.microsoft.com/office/2006/metadata/properties" xmlns:ns2="f86bb142-cfc2-49f8-a6a3-1f1ebe9ac78f" targetNamespace="http://schemas.microsoft.com/office/2006/metadata/properties" ma:root="true" ma:fieldsID="bbfb16fa2ba3bfa7298bbbbbdbccf4e8" ns2:_="">
    <xsd:import namespace="f86bb142-cfc2-49f8-a6a3-1f1ebe9ac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bb142-cfc2-49f8-a6a3-1f1ebe9ac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4DBE27-109B-4E26-A984-56B820FCE9C5}"/>
</file>

<file path=customXml/itemProps2.xml><?xml version="1.0" encoding="utf-8"?>
<ds:datastoreItem xmlns:ds="http://schemas.openxmlformats.org/officeDocument/2006/customXml" ds:itemID="{FF8054BD-ACCD-479E-AFBA-EEEC873AD0E0}"/>
</file>

<file path=customXml/itemProps3.xml><?xml version="1.0" encoding="utf-8"?>
<ds:datastoreItem xmlns:ds="http://schemas.openxmlformats.org/officeDocument/2006/customXml" ds:itemID="{3EF1D907-5BCF-4F16-A5E6-6A1DEE524A70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apresentação\Chave e fechadura.pot</Template>
  <TotalTime>1765</TotalTime>
  <Words>503</Words>
  <Application>Microsoft Office PowerPoint</Application>
  <PresentationFormat>Apresentação na tela (4:3)</PresentationFormat>
  <Paragraphs>137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Arial</vt:lpstr>
      <vt:lpstr>StarSymbol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Keiji</dc:creator>
  <dc:description/>
  <cp:lastModifiedBy>Keiji Yamanaka</cp:lastModifiedBy>
  <cp:revision>119</cp:revision>
  <dcterms:created xsi:type="dcterms:W3CDTF">1601-01-01T00:00:00Z</dcterms:created>
  <dcterms:modified xsi:type="dcterms:W3CDTF">2026-09-21T00:13:43Z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23</vt:i4>
  </property>
  <property fmtid="{D5CDD505-2E9C-101B-9397-08002B2CF9AE}" pid="12" name="ContentTypeId">
    <vt:lpwstr>0x010100B6E0D263096AE543989EDC63A5F204DE</vt:lpwstr>
  </property>
</Properties>
</file>