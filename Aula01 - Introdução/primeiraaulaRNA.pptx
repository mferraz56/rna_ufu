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sldIdLst>
    <p:sldId id="256" r:id="rId5"/>
    <p:sldId id="257" r:id="rId6"/>
    <p:sldId id="265" r:id="rId7"/>
    <p:sldId id="266" r:id="rId8"/>
    <p:sldId id="260" r:id="rId9"/>
    <p:sldId id="258" r:id="rId10"/>
    <p:sldId id="285" r:id="rId11"/>
    <p:sldId id="286" r:id="rId12"/>
    <p:sldId id="287" r:id="rId13"/>
    <p:sldId id="259" r:id="rId14"/>
    <p:sldId id="261" r:id="rId15"/>
    <p:sldId id="289" r:id="rId16"/>
    <p:sldId id="291" r:id="rId17"/>
    <p:sldId id="290" r:id="rId18"/>
    <p:sldId id="293" r:id="rId19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1611"/>
    <a:srgbClr val="FF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/>
  </p:normalViewPr>
  <p:slideViewPr>
    <p:cSldViewPr>
      <p:cViewPr varScale="1">
        <p:scale>
          <a:sx n="71" d="100"/>
          <a:sy n="71" d="100"/>
        </p:scale>
        <p:origin x="11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1030"/>
          <p:cNvSpPr>
            <a:spLocks noGrp="1" noChangeArrowheads="1"/>
          </p:cNvSpPr>
          <p:nvPr>
            <p:ph type="ctrTitle" sz="quarter"/>
          </p:nvPr>
        </p:nvSpPr>
        <p:spPr>
          <a:xfrm>
            <a:off x="1905000" y="1676400"/>
            <a:ext cx="6934200" cy="2116138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7175" name="Rectangle 103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911350" y="3968750"/>
            <a:ext cx="6400800" cy="1752600"/>
          </a:xfrm>
        </p:spPr>
        <p:txBody>
          <a:bodyPr/>
          <a:lstStyle>
            <a:lvl1pPr marL="0" indent="0">
              <a:buFont typeface="Symbol" pitchFamily="18" charset="2"/>
              <a:buNone/>
              <a:defRPr/>
            </a:lvl1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7176" name="Rectangle 1032"/>
          <p:cNvSpPr>
            <a:spLocks noGrp="1" noChangeArrowheads="1"/>
          </p:cNvSpPr>
          <p:nvPr>
            <p:ph type="dt" sz="quarter" idx="2"/>
          </p:nvPr>
        </p:nvSpPr>
        <p:spPr>
          <a:xfrm>
            <a:off x="18288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177" name="Rectangle 1033"/>
          <p:cNvSpPr>
            <a:spLocks noGrp="1" noChangeArrowheads="1"/>
          </p:cNvSpPr>
          <p:nvPr>
            <p:ph type="ftr" sz="quarter" idx="3"/>
          </p:nvPr>
        </p:nvSpPr>
        <p:spPr>
          <a:xfrm>
            <a:off x="39624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178" name="Rectangle 1034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709B1B7B-C038-4F2A-BF82-CF62BE5C090E}" type="slidenum">
              <a:rPr lang="pt-BR"/>
              <a:pPr/>
              <a:t>‹nº›</a:t>
            </a:fld>
            <a:endParaRPr lang="pt-BR"/>
          </a:p>
        </p:txBody>
      </p:sp>
      <p:pic>
        <p:nvPicPr>
          <p:cNvPr id="7180" name="Picture 1036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371600" cy="685800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A24B39-0F5E-405B-82C2-418CA07CB0B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EF0DB3-1A0C-4573-94D7-0AD48EFABCA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19200" y="1600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81600" y="1600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DDB181-C97F-401A-B083-337089E28F11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251F14-C6D0-4FE7-987C-BA3ABB3D611D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ABF6D-2274-47C7-A96F-FE9741174B40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B7EC66-2EDC-4E12-8A0A-CFB5E93ACA0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469719-034C-4B1C-8408-36DC84966B2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C4600D-BCFA-4F3E-A4F9-20571BD7658E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6DCAB1-8C57-4698-B7BC-E1C0EE355F23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48500" y="304800"/>
            <a:ext cx="1943100" cy="57912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219200" y="304800"/>
            <a:ext cx="5676900" cy="57912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7D9082-7186-4DA5-A6F1-B18B9207A391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9200" y="304800"/>
            <a:ext cx="7772400" cy="12065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1219200" y="1600200"/>
            <a:ext cx="7772400" cy="4495800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1143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5814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512104B-47FE-4F0E-A54D-D6FEAAE58E75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path path="shape">
            <a:fillToRect l="14166" t="5554" r="835" b="77779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304800"/>
            <a:ext cx="7772400" cy="12065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600200"/>
            <a:ext cx="7772400" cy="4495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15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43000" y="6400800"/>
            <a:ext cx="1905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pt-BR"/>
          </a:p>
        </p:txBody>
      </p:sp>
      <p:sp>
        <p:nvSpPr>
          <p:cNvPr id="615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400800"/>
            <a:ext cx="2895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pt-BR"/>
          </a:p>
        </p:txBody>
      </p:sp>
      <p:sp>
        <p:nvSpPr>
          <p:cNvPr id="615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15B8840-3FDA-49AC-9BA5-D6A77156810B}" type="slidenum">
              <a:rPr lang="pt-BR"/>
              <a:pPr/>
              <a:t>‹nº›</a:t>
            </a:fld>
            <a:endParaRPr lang="pt-BR"/>
          </a:p>
        </p:txBody>
      </p:sp>
      <p:pic>
        <p:nvPicPr>
          <p:cNvPr id="6163" name="Picture 19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0" y="0"/>
            <a:ext cx="1143000" cy="685800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Symbol" pitchFamily="18" charset="2"/>
        <a:buChar char="¨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1009650"/>
            <a:ext cx="7315200" cy="2116138"/>
          </a:xfrm>
        </p:spPr>
        <p:txBody>
          <a:bodyPr/>
          <a:lstStyle/>
          <a:p>
            <a:r>
              <a:rPr lang="en-US"/>
              <a:t>    </a:t>
            </a:r>
            <a:r>
              <a:rPr lang="en-US" sz="4800"/>
              <a:t>Redes   Neurais Artificiais</a:t>
            </a:r>
            <a:endParaRPr lang="pt-BR" sz="480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2667000"/>
            <a:ext cx="7010400" cy="3733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              </a:t>
            </a:r>
          </a:p>
          <a:p>
            <a:pPr>
              <a:lnSpc>
                <a:spcPct val="80000"/>
              </a:lnSpc>
            </a:pPr>
            <a:r>
              <a:rPr lang="en-US" dirty="0"/>
              <a:t>               </a:t>
            </a:r>
            <a:r>
              <a:rPr lang="en-US" dirty="0" err="1"/>
              <a:t>Fundamentos</a:t>
            </a:r>
            <a:r>
              <a:rPr lang="en-US" dirty="0"/>
              <a:t> e </a:t>
            </a:r>
            <a:r>
              <a:rPr lang="en-US" dirty="0" err="1"/>
              <a:t>aplicações</a:t>
            </a:r>
            <a:endParaRPr lang="en-US" dirty="0"/>
          </a:p>
          <a:p>
            <a:pPr>
              <a:lnSpc>
                <a:spcPct val="8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sz="2400"/>
              <a:t>                              </a:t>
            </a:r>
            <a:r>
              <a:rPr lang="en-US" sz="2400" dirty="0"/>
              <a:t>Prof. </a:t>
            </a:r>
            <a:r>
              <a:rPr lang="en-US" sz="2400" dirty="0" err="1"/>
              <a:t>Keiji</a:t>
            </a:r>
            <a:r>
              <a:rPr lang="en-US" sz="2400" dirty="0"/>
              <a:t> Yamanaka 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              </a:t>
            </a:r>
            <a:r>
              <a:rPr lang="en-US" sz="2400" dirty="0" err="1"/>
              <a:t>Faculdade</a:t>
            </a:r>
            <a:r>
              <a:rPr lang="en-US" sz="2400" dirty="0"/>
              <a:t> de </a:t>
            </a:r>
            <a:r>
              <a:rPr lang="en-US" sz="2400" dirty="0" err="1"/>
              <a:t>Engenharia</a:t>
            </a:r>
            <a:r>
              <a:rPr lang="en-US" sz="2400" dirty="0"/>
              <a:t> </a:t>
            </a:r>
            <a:r>
              <a:rPr lang="en-US" sz="2400" dirty="0" err="1"/>
              <a:t>Elétrica</a:t>
            </a:r>
            <a:r>
              <a:rPr lang="en-US" sz="2400" dirty="0"/>
              <a:t> – UFU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			</a:t>
            </a:r>
            <a:endParaRPr lang="pt-BR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676400"/>
            <a:ext cx="7772400" cy="1206500"/>
          </a:xfrm>
        </p:spPr>
        <p:txBody>
          <a:bodyPr/>
          <a:lstStyle/>
          <a:p>
            <a:r>
              <a:rPr lang="en-US"/>
              <a:t>Motivação:</a:t>
            </a:r>
            <a:endParaRPr lang="pt-B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3505200"/>
            <a:ext cx="7772400" cy="1066800"/>
          </a:xfrm>
        </p:spPr>
        <p:txBody>
          <a:bodyPr/>
          <a:lstStyle/>
          <a:p>
            <a:pPr>
              <a:buFont typeface="Symbol" pitchFamily="18" charset="2"/>
              <a:buNone/>
            </a:pPr>
            <a:r>
              <a:rPr lang="en-US"/>
              <a:t>           </a:t>
            </a:r>
            <a:r>
              <a:rPr lang="en-US" sz="4000"/>
              <a:t>Como o cérebro funciona?</a:t>
            </a:r>
            <a:endParaRPr 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Histórico das RNA</a:t>
            </a:r>
            <a:endParaRPr lang="pt-BR"/>
          </a:p>
        </p:txBody>
      </p:sp>
      <p:sp>
        <p:nvSpPr>
          <p:cNvPr id="15364" name="Text Box 4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pt-BR" sz="2800"/>
              <a:t> </a:t>
            </a:r>
            <a:r>
              <a:rPr lang="pt-BR" sz="2400"/>
              <a:t>(1943) Warren S. McCulloch (psiquiatra e neuroanatomista) &amp; Walter Pitts(matemático) desenvolvem primeiro modelo matemático de </a:t>
            </a:r>
            <a:r>
              <a:rPr lang="en-US" sz="2400"/>
              <a:t>neurônio</a:t>
            </a:r>
            <a:endParaRPr lang="pt-BR" sz="2400"/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pt-BR" sz="2400"/>
              <a:t>     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pt-BR" sz="2400"/>
              <a:t> (1959) Rosenblatt </a:t>
            </a:r>
            <a:r>
              <a:rPr lang="en-US" sz="2400"/>
              <a:t>-</a:t>
            </a:r>
            <a:r>
              <a:rPr lang="pt-BR" sz="2400"/>
              <a:t> Perceptron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pt-BR" sz="2400"/>
              <a:t>     * Ajuste iterativo de pesos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pt-BR" sz="2400"/>
              <a:t>     * Prova teorema da convergência</a:t>
            </a:r>
            <a:endParaRPr lang="en-US" sz="2400"/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endParaRPr lang="pt-BR" sz="2400"/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en-US" sz="2400"/>
              <a:t> (1969) </a:t>
            </a:r>
            <a:r>
              <a:rPr lang="pt-BR" sz="2400"/>
              <a:t>Minsky &amp; Papert analisam Perceptron e mostram suas limitações</a:t>
            </a:r>
            <a:endParaRPr lang="en-US" sz="2400"/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endParaRPr lang="en-US" sz="2400"/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en-US" sz="2400"/>
              <a:t>Período negro para RNA</a:t>
            </a:r>
            <a:endParaRPr lang="pt-BR" sz="2400"/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endParaRPr lang="pt-BR" sz="2400"/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endParaRPr lang="pt-BR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pt-BR" sz="2400" dirty="0">
                <a:latin typeface="TimesNewRoman" charset="0"/>
              </a:rPr>
              <a:t>(1986) </a:t>
            </a:r>
            <a:r>
              <a:rPr lang="pt-BR" sz="2400" dirty="0" err="1">
                <a:latin typeface="TimesNewRoman" charset="0"/>
              </a:rPr>
              <a:t>Hinton</a:t>
            </a:r>
            <a:r>
              <a:rPr lang="pt-BR" sz="2400" dirty="0">
                <a:latin typeface="TimesNewRoman" charset="0"/>
              </a:rPr>
              <a:t>, </a:t>
            </a:r>
            <a:r>
              <a:rPr lang="pt-BR" sz="2400" dirty="0" err="1">
                <a:latin typeface="TimesNewRoman" charset="0"/>
              </a:rPr>
              <a:t>Rumelhart</a:t>
            </a:r>
            <a:r>
              <a:rPr lang="pt-BR" sz="2400" dirty="0">
                <a:latin typeface="TimesNewRoman" charset="0"/>
              </a:rPr>
              <a:t> e Williams, propõem o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sz="2400" dirty="0">
                <a:latin typeface="TimesNewRoman" charset="0"/>
              </a:rPr>
              <a:t>     </a:t>
            </a:r>
            <a:r>
              <a:rPr lang="pt-BR" sz="2400" dirty="0" err="1">
                <a:latin typeface="TimesNewRoman" charset="0"/>
              </a:rPr>
              <a:t>algorítmo</a:t>
            </a:r>
            <a:r>
              <a:rPr lang="pt-BR" sz="2400" dirty="0">
                <a:latin typeface="TimesNewRoman" charset="0"/>
              </a:rPr>
              <a:t> </a:t>
            </a:r>
            <a:r>
              <a:rPr lang="en-US" sz="2400" dirty="0">
                <a:latin typeface="TimesNewRoman" charset="0"/>
              </a:rPr>
              <a:t>“error backpropagation”</a:t>
            </a:r>
            <a:r>
              <a:rPr lang="pt-BR" sz="2400" dirty="0">
                <a:latin typeface="TimesNewRoman" charset="0"/>
              </a:rPr>
              <a:t>de </a:t>
            </a:r>
            <a:r>
              <a:rPr lang="en-US" sz="2400" dirty="0" err="1">
                <a:latin typeface="TimesNewRoman" charset="0"/>
              </a:rPr>
              <a:t>treinamento</a:t>
            </a:r>
            <a:r>
              <a:rPr lang="en-US" sz="2400" dirty="0">
                <a:latin typeface="TimesNewRoman" charset="0"/>
              </a:rPr>
              <a:t> </a:t>
            </a:r>
            <a:r>
              <a:rPr lang="pt-BR" sz="2400" dirty="0">
                <a:latin typeface="TimesNewRoman" charset="0"/>
              </a:rPr>
              <a:t> para redes multicamadas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endParaRPr lang="en-US" sz="2400" dirty="0">
              <a:latin typeface="TimesNewRoman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sz="2400" dirty="0">
                <a:latin typeface="TimesNewRoman" charset="0"/>
              </a:rPr>
              <a:t>(1989) Convolutional Neural Network – CNN  </a:t>
            </a:r>
            <a:r>
              <a:rPr lang="en-US" sz="2400" dirty="0" err="1">
                <a:latin typeface="TimesNewRoman" charset="0"/>
              </a:rPr>
              <a:t>proposto</a:t>
            </a:r>
            <a:r>
              <a:rPr lang="en-US" sz="2400" dirty="0">
                <a:latin typeface="TimesNewRoman" charset="0"/>
              </a:rPr>
              <a:t> </a:t>
            </a:r>
            <a:r>
              <a:rPr lang="en-US" sz="2400" dirty="0" err="1">
                <a:latin typeface="TimesNewRoman" charset="0"/>
              </a:rPr>
              <a:t>por</a:t>
            </a:r>
            <a:r>
              <a:rPr lang="en-US" sz="2400" dirty="0">
                <a:latin typeface="TimesNewRoman" charset="0"/>
              </a:rPr>
              <a:t> Yann </a:t>
            </a:r>
            <a:r>
              <a:rPr lang="en-US" sz="2400" dirty="0" err="1">
                <a:latin typeface="TimesNewRoman" charset="0"/>
              </a:rPr>
              <a:t>Lecun</a:t>
            </a:r>
            <a:endParaRPr lang="en-US" sz="2400" dirty="0">
              <a:latin typeface="TimesNewRoman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sz="2400" dirty="0">
              <a:latin typeface="TimesNewRoman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sz="2400" dirty="0">
                <a:latin typeface="TimesNewRoman" charset="0"/>
              </a:rPr>
              <a:t>(2010 </a:t>
            </a:r>
            <a:r>
              <a:rPr lang="en-US" sz="2400" dirty="0" err="1">
                <a:latin typeface="TimesNewRoman" charset="0"/>
              </a:rPr>
              <a:t>em</a:t>
            </a:r>
            <a:r>
              <a:rPr lang="en-US" sz="2400" dirty="0">
                <a:latin typeface="TimesNewRoman" charset="0"/>
              </a:rPr>
              <a:t> </a:t>
            </a:r>
            <a:r>
              <a:rPr lang="en-US" sz="2400" dirty="0" err="1">
                <a:latin typeface="TimesNewRoman" charset="0"/>
              </a:rPr>
              <a:t>diante</a:t>
            </a:r>
            <a:r>
              <a:rPr lang="en-US" sz="2400" dirty="0">
                <a:latin typeface="TimesNewRoman" charset="0"/>
              </a:rPr>
              <a:t>) Deep Learning e IA </a:t>
            </a:r>
            <a:r>
              <a:rPr lang="en-US" sz="2400" dirty="0" err="1">
                <a:latin typeface="TimesNewRoman" charset="0"/>
              </a:rPr>
              <a:t>Generativo</a:t>
            </a:r>
            <a:endParaRPr lang="en-US" sz="2400" dirty="0">
              <a:latin typeface="TimesNewRoman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endParaRPr lang="en-US" sz="2400" dirty="0">
              <a:latin typeface="Wingdings-Regular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endParaRPr lang="pt-BR" sz="2400" dirty="0">
              <a:latin typeface="Wingdings-Regular" charset="0"/>
            </a:endParaRP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Histórico das RNA</a:t>
            </a:r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685800"/>
            <a:ext cx="7772400" cy="1206500"/>
          </a:xfrm>
        </p:spPr>
        <p:txBody>
          <a:bodyPr/>
          <a:lstStyle/>
          <a:p>
            <a:r>
              <a:rPr lang="en-US" sz="3600"/>
              <a:t>O que são as Redes Neurais Artificiais.</a:t>
            </a:r>
            <a:endParaRPr lang="pt-BR" sz="3600"/>
          </a:p>
        </p:txBody>
      </p:sp>
      <p:sp>
        <p:nvSpPr>
          <p:cNvPr id="10244" name="Text Box 4"/>
          <p:cNvSpPr txBox="1">
            <a:spLocks noGrp="1" noChangeArrowheads="1"/>
          </p:cNvSpPr>
          <p:nvPr>
            <p:ph type="body" idx="1"/>
          </p:nvPr>
        </p:nvSpPr>
        <p:spPr>
          <a:xfrm>
            <a:off x="1371600" y="1828800"/>
            <a:ext cx="7772400" cy="3657600"/>
          </a:xfrm>
          <a:noFill/>
          <a:ln/>
        </p:spPr>
        <p:txBody>
          <a:bodyPr/>
          <a:lstStyle/>
          <a:p>
            <a:pPr marL="609600" indent="-60960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400" i="1">
                <a:latin typeface="Arial" pitchFamily="34" charset="0"/>
                <a:cs typeface="Arial" pitchFamily="34" charset="0"/>
              </a:rPr>
              <a:t>       “</a:t>
            </a:r>
            <a:r>
              <a:rPr lang="pt-BR" sz="2400" i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RNA</a:t>
            </a:r>
            <a:r>
              <a:rPr lang="en-US" sz="2400" i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é um</a:t>
            </a:r>
            <a:r>
              <a:rPr lang="pt-BR" sz="2400" i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processador ma</a:t>
            </a:r>
            <a:r>
              <a:rPr lang="en-US" sz="2400" i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ciça</a:t>
            </a:r>
            <a:r>
              <a:rPr lang="pt-BR" sz="2400" i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mente paralelo</a:t>
            </a:r>
            <a:r>
              <a:rPr lang="pt-BR" sz="2400" i="1">
                <a:latin typeface="Arial" pitchFamily="34" charset="0"/>
                <a:cs typeface="Arial" pitchFamily="34" charset="0"/>
              </a:rPr>
              <a:t> e distribuído</a:t>
            </a:r>
            <a:r>
              <a:rPr lang="en-US" sz="2400" i="1">
                <a:latin typeface="Arial" pitchFamily="34" charset="0"/>
                <a:cs typeface="Arial" pitchFamily="34" charset="0"/>
              </a:rPr>
              <a:t>, constituido de </a:t>
            </a:r>
            <a:r>
              <a:rPr lang="en-US" sz="2400" i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unidades simples de processamento</a:t>
            </a:r>
            <a:r>
              <a:rPr lang="en-US" sz="2400" i="1">
                <a:latin typeface="Arial" pitchFamily="34" charset="0"/>
                <a:cs typeface="Arial" pitchFamily="34" charset="0"/>
              </a:rPr>
              <a:t>,</a:t>
            </a:r>
            <a:r>
              <a:rPr lang="pt-BR" sz="2400" i="1">
                <a:latin typeface="Arial" pitchFamily="34" charset="0"/>
                <a:cs typeface="Arial" pitchFamily="34" charset="0"/>
              </a:rPr>
              <a:t> que têm uma propensão natural para armazenar o </a:t>
            </a:r>
            <a:r>
              <a:rPr lang="pt-BR" sz="2400" i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conhecimento experi</a:t>
            </a:r>
            <a:r>
              <a:rPr lang="en-US" sz="2400" i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mental</a:t>
            </a:r>
            <a:r>
              <a:rPr lang="pt-BR" sz="2400" i="1">
                <a:latin typeface="Arial" pitchFamily="34" charset="0"/>
                <a:cs typeface="Arial" pitchFamily="34" charset="0"/>
              </a:rPr>
              <a:t> e torná-lo útil</a:t>
            </a:r>
            <a:r>
              <a:rPr lang="en-US" sz="2400" i="1">
                <a:latin typeface="Arial" pitchFamily="34" charset="0"/>
                <a:cs typeface="Arial" pitchFamily="34" charset="0"/>
              </a:rPr>
              <a:t>, </a:t>
            </a:r>
            <a:r>
              <a:rPr lang="pt-BR" sz="2400" i="1">
                <a:latin typeface="Arial" pitchFamily="34" charset="0"/>
                <a:cs typeface="Arial" pitchFamily="34" charset="0"/>
              </a:rPr>
              <a:t>assemelhando-se ao cérebro humano em dois aspectos:</a:t>
            </a:r>
            <a:endParaRPr lang="en-US" sz="2400" i="1">
              <a:latin typeface="Arial" pitchFamily="34" charset="0"/>
              <a:cs typeface="Arial" pitchFamily="34" charset="0"/>
            </a:endParaRPr>
          </a:p>
          <a:p>
            <a:pPr marL="609600" indent="-60960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sz="2400"/>
          </a:p>
          <a:p>
            <a:pPr marL="609600" indent="-60960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pt-BR" sz="2400" i="1">
                <a:latin typeface="Arial" pitchFamily="34" charset="0"/>
                <a:cs typeface="Arial" pitchFamily="34" charset="0"/>
              </a:rPr>
              <a:t>o conhecimento é adquirido pela rede através de um </a:t>
            </a:r>
            <a:r>
              <a:rPr lang="pt-BR" sz="2400" i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processo de aprendizado</a:t>
            </a:r>
            <a:r>
              <a:rPr lang="pt-BR" sz="2400" i="1">
                <a:latin typeface="Arial" pitchFamily="34" charset="0"/>
                <a:cs typeface="Arial" pitchFamily="34" charset="0"/>
              </a:rPr>
              <a:t> e</a:t>
            </a:r>
            <a:r>
              <a:rPr lang="en-US" sz="2400" i="1">
                <a:latin typeface="Arial" pitchFamily="34" charset="0"/>
                <a:cs typeface="Arial" pitchFamily="34" charset="0"/>
              </a:rPr>
              <a:t>,</a:t>
            </a:r>
            <a:r>
              <a:rPr lang="pt-BR" sz="2400"/>
              <a:t> </a:t>
            </a:r>
          </a:p>
          <a:p>
            <a:pPr marL="609600" indent="-60960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pt-BR" sz="2400" i="1">
                <a:latin typeface="Arial" pitchFamily="34" charset="0"/>
                <a:cs typeface="Arial" pitchFamily="34" charset="0"/>
              </a:rPr>
              <a:t>as intensidades das </a:t>
            </a:r>
            <a:r>
              <a:rPr lang="pt-BR" sz="2400" i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conexões entre neurônios</a:t>
            </a:r>
            <a:r>
              <a:rPr lang="pt-BR" sz="2400" i="1">
                <a:latin typeface="Arial" pitchFamily="34" charset="0"/>
                <a:cs typeface="Arial" pitchFamily="34" charset="0"/>
              </a:rPr>
              <a:t>, conhecidas como </a:t>
            </a:r>
            <a:r>
              <a:rPr lang="pt-BR" sz="2400" i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pesos sinápticos</a:t>
            </a:r>
            <a:r>
              <a:rPr lang="pt-BR" sz="2400" i="1">
                <a:latin typeface="Arial" pitchFamily="34" charset="0"/>
                <a:cs typeface="Arial" pitchFamily="34" charset="0"/>
              </a:rPr>
              <a:t>, são usadas para armazenar o conhecimento</a:t>
            </a:r>
            <a:r>
              <a:rPr lang="en-US" sz="2400" i="1">
                <a:latin typeface="Arial" pitchFamily="34" charset="0"/>
                <a:cs typeface="Arial" pitchFamily="34" charset="0"/>
              </a:rPr>
              <a:t> adquirido</a:t>
            </a:r>
            <a:r>
              <a:rPr lang="pt-BR" sz="2400" i="1">
                <a:latin typeface="Arial" pitchFamily="34" charset="0"/>
                <a:cs typeface="Arial" pitchFamily="34" charset="0"/>
              </a:rPr>
              <a:t>.“</a:t>
            </a:r>
            <a:r>
              <a:rPr lang="en-US" sz="2400" i="1">
                <a:latin typeface="Arial" pitchFamily="34" charset="0"/>
                <a:cs typeface="Arial" pitchFamily="34" charset="0"/>
              </a:rPr>
              <a:t> (*)</a:t>
            </a:r>
          </a:p>
          <a:p>
            <a:pPr marL="609600" indent="-60960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endParaRPr lang="en-US" sz="2400"/>
          </a:p>
          <a:p>
            <a:pPr marL="609600" indent="-60960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400"/>
              <a:t>					(*) Simon Haykin</a:t>
            </a:r>
            <a:endParaRPr lang="pt-BR" sz="2400"/>
          </a:p>
          <a:p>
            <a:pPr marL="609600" indent="-60960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 cérebro:</a:t>
            </a:r>
            <a:endParaRPr lang="pt-BR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76400"/>
            <a:ext cx="7772400" cy="4495800"/>
          </a:xfrm>
        </p:spPr>
        <p:txBody>
          <a:bodyPr/>
          <a:lstStyle/>
          <a:p>
            <a:r>
              <a:rPr lang="en-US" dirty="0"/>
              <a:t>Ramón y </a:t>
            </a:r>
            <a:r>
              <a:rPr lang="en-US" dirty="0" err="1"/>
              <a:t>Cajál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1911, </a:t>
            </a:r>
            <a:r>
              <a:rPr lang="en-US" dirty="0" err="1"/>
              <a:t>sugere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constituintes</a:t>
            </a:r>
            <a:r>
              <a:rPr lang="en-US" dirty="0"/>
              <a:t> </a:t>
            </a:r>
            <a:r>
              <a:rPr lang="en-US" dirty="0" err="1"/>
              <a:t>básicos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neurônios</a:t>
            </a:r>
            <a:r>
              <a:rPr lang="en-US" dirty="0"/>
              <a:t>.</a:t>
            </a:r>
          </a:p>
          <a:p>
            <a:r>
              <a:rPr lang="en-US" dirty="0" err="1"/>
              <a:t>Cérebro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86 </a:t>
            </a:r>
            <a:r>
              <a:rPr lang="en-US" dirty="0" err="1"/>
              <a:t>bilhões</a:t>
            </a:r>
            <a:r>
              <a:rPr lang="en-US" dirty="0"/>
              <a:t> de </a:t>
            </a:r>
            <a:r>
              <a:rPr lang="en-US" dirty="0" err="1"/>
              <a:t>neurônios</a:t>
            </a:r>
            <a:r>
              <a:rPr lang="en-US" dirty="0"/>
              <a:t>.</a:t>
            </a:r>
          </a:p>
          <a:p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neurônio</a:t>
            </a:r>
            <a:r>
              <a:rPr lang="en-US" dirty="0"/>
              <a:t> tem entre 1.000 a 10.000 </a:t>
            </a:r>
            <a:r>
              <a:rPr lang="en-US" dirty="0" err="1"/>
              <a:t>conexões</a:t>
            </a:r>
            <a:r>
              <a:rPr lang="en-US" dirty="0"/>
              <a:t>.</a:t>
            </a:r>
          </a:p>
          <a:p>
            <a:r>
              <a:rPr lang="en-US" dirty="0"/>
              <a:t>Total de </a:t>
            </a:r>
            <a:r>
              <a:rPr lang="pt-BR" dirty="0">
                <a:cs typeface="Times New Roman" pitchFamily="18" charset="0"/>
              </a:rPr>
              <a:t>10</a:t>
            </a:r>
            <a:r>
              <a:rPr lang="pt-BR" baseline="30000" dirty="0">
                <a:cs typeface="Times New Roman" pitchFamily="18" charset="0"/>
              </a:rPr>
              <a:t>14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conexões</a:t>
            </a:r>
            <a:r>
              <a:rPr lang="en-US" dirty="0">
                <a:cs typeface="Times New Roman" pitchFamily="18" charset="0"/>
              </a:rPr>
              <a:t> !</a:t>
            </a:r>
          </a:p>
          <a:p>
            <a:r>
              <a:rPr lang="en-US" dirty="0" err="1">
                <a:cs typeface="Times New Roman" pitchFamily="18" charset="0"/>
              </a:rPr>
              <a:t>Processamento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da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informação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maciçamente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paralelo</a:t>
            </a:r>
            <a:r>
              <a:rPr lang="en-US" dirty="0">
                <a:cs typeface="Times New Roman" pitchFamily="18" charset="0"/>
              </a:rPr>
              <a:t>.</a:t>
            </a:r>
            <a:r>
              <a:rPr lang="pt-BR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3150" y="304800"/>
            <a:ext cx="7772400" cy="1206500"/>
          </a:xfrm>
        </p:spPr>
        <p:txBody>
          <a:bodyPr/>
          <a:lstStyle/>
          <a:p>
            <a:r>
              <a:rPr lang="en-US"/>
              <a:t> O cérebro:</a:t>
            </a:r>
            <a:endParaRPr lang="pt-BR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905000"/>
            <a:ext cx="7772400" cy="3962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Não “roda” programa.</a:t>
            </a:r>
          </a:p>
          <a:p>
            <a:pPr>
              <a:lnSpc>
                <a:spcPct val="90000"/>
              </a:lnSpc>
            </a:pPr>
            <a:r>
              <a:rPr lang="en-US"/>
              <a:t>Controla o comportamento visando a sobrevivência.</a:t>
            </a:r>
          </a:p>
          <a:p>
            <a:pPr>
              <a:lnSpc>
                <a:spcPct val="90000"/>
              </a:lnSpc>
            </a:pPr>
            <a:r>
              <a:rPr lang="en-US"/>
              <a:t>Adaptabilidade através de aprendizado.</a:t>
            </a:r>
          </a:p>
          <a:p>
            <a:pPr>
              <a:lnSpc>
                <a:spcPct val="90000"/>
              </a:lnSpc>
            </a:pPr>
            <a:r>
              <a:rPr lang="en-US"/>
              <a:t>Tolerante a erros.</a:t>
            </a:r>
          </a:p>
          <a:p>
            <a:pPr>
              <a:lnSpc>
                <a:spcPct val="90000"/>
              </a:lnSpc>
            </a:pPr>
            <a:r>
              <a:rPr lang="en-US"/>
              <a:t>Opera com conhecimento parcial.</a:t>
            </a:r>
          </a:p>
          <a:p>
            <a:pPr>
              <a:lnSpc>
                <a:spcPct val="90000"/>
              </a:lnSpc>
            </a:pPr>
            <a:r>
              <a:rPr lang="en-US"/>
              <a:t>Grande capacidade de memória.</a:t>
            </a:r>
          </a:p>
          <a:p>
            <a:pPr>
              <a:lnSpc>
                <a:spcPct val="90000"/>
              </a:lnSpc>
            </a:pPr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Neurocomputação</a:t>
            </a:r>
            <a:endParaRPr lang="pt-BR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Computação tradicional – baseada na arquitetura de Von Neumann.</a:t>
            </a:r>
          </a:p>
          <a:p>
            <a:r>
              <a:rPr lang="en-US"/>
              <a:t>Neurocomputação – processamento paralelo e distribuido, além de aprendizado.</a:t>
            </a:r>
          </a:p>
          <a:p>
            <a:r>
              <a:rPr lang="en-US"/>
              <a:t>Baseada na interconexão de unidades de processamento simples e similares, com grande capacidade de adaptação.</a:t>
            </a:r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Neurocomputação</a:t>
            </a:r>
            <a:endParaRPr lang="pt-BR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905000"/>
            <a:ext cx="7521575" cy="39004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Solução alternativa para problemas intratáveis ou ainda não resolvidos.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Fáceis para o homem mas difíceis para a máquina.</a:t>
            </a:r>
          </a:p>
          <a:p>
            <a:pPr lvl="1">
              <a:lnSpc>
                <a:spcPct val="90000"/>
              </a:lnSpc>
            </a:pPr>
            <a:endParaRPr lang="en-US" sz="2400"/>
          </a:p>
          <a:p>
            <a:pPr>
              <a:lnSpc>
                <a:spcPct val="90000"/>
              </a:lnSpc>
            </a:pPr>
            <a:r>
              <a:rPr lang="en-US" sz="2800"/>
              <a:t>Reprodução de habilidades cognitivas e de processamento de informação desejáveis à aplicação em engenharia.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Tratar problemas multidimensionais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Tratar variáveis sujeitas a interações não-lineares</a:t>
            </a:r>
            <a:endParaRPr lang="pt-BR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Características das RNA</a:t>
            </a:r>
            <a:endParaRPr lang="pt-BR"/>
          </a:p>
        </p:txBody>
      </p:sp>
      <p:sp>
        <p:nvSpPr>
          <p:cNvPr id="9220" name="Text Box 4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pt-BR" sz="2800"/>
              <a:t> Aprendem através de exemplos.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pt-BR" sz="2800"/>
              <a:t>             * Similaridade com aprendizagem humana.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sz="2800"/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pt-BR" sz="2800"/>
              <a:t> Capacidade de generalização.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pt-BR" sz="2800"/>
              <a:t>          * Diferenças entre mesmos padrões de entrada.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endParaRPr lang="pt-BR" sz="2800"/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pt-BR" sz="2800"/>
              <a:t> Adaptabilidade.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endParaRPr lang="pt-BR" sz="2800"/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pt-BR" sz="2800"/>
              <a:t> Tolerância a falhas.</a:t>
            </a:r>
            <a:endParaRPr lang="en-US" sz="2800"/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endParaRPr lang="pt-BR" sz="2400"/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endParaRPr lang="pt-BR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Algumas aplicações de RNA</a:t>
            </a:r>
            <a:endParaRPr lang="pt-BR"/>
          </a:p>
        </p:txBody>
      </p:sp>
      <p:sp>
        <p:nvSpPr>
          <p:cNvPr id="11268" name="Text Box 4"/>
          <p:cNvSpPr txBox="1"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772400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pt-BR" sz="2800">
                <a:solidFill>
                  <a:srgbClr val="FFFF00"/>
                </a:solidFill>
              </a:rPr>
              <a:t>processamento de sinais </a:t>
            </a:r>
            <a:endParaRPr lang="en-US" sz="2800">
              <a:solidFill>
                <a:srgbClr val="FFFF00"/>
              </a:solidFill>
            </a:endParaRPr>
          </a:p>
          <a:p>
            <a:pPr lvl="1">
              <a:lnSpc>
                <a:spcPct val="9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2400"/>
              <a:t>Supressão de ruidos em linhas telefônicas</a:t>
            </a:r>
            <a:endParaRPr lang="pt-BR" sz="2400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pt-BR" sz="2800">
                <a:solidFill>
                  <a:srgbClr val="FFFF00"/>
                </a:solidFill>
              </a:rPr>
              <a:t>controle de processos</a:t>
            </a:r>
            <a:endParaRPr lang="en-US" sz="2800">
              <a:solidFill>
                <a:srgbClr val="FFFF00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pt-BR" sz="2800">
                <a:solidFill>
                  <a:srgbClr val="FFFF00"/>
                </a:solidFill>
              </a:rPr>
              <a:t>reconhecimento de padrões</a:t>
            </a:r>
            <a:endParaRPr lang="en-US" sz="2800">
              <a:solidFill>
                <a:srgbClr val="FFFF00"/>
              </a:solidFill>
            </a:endParaRPr>
          </a:p>
          <a:p>
            <a:pPr lvl="1">
              <a:lnSpc>
                <a:spcPct val="9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2400"/>
              <a:t>Reconhecimento de códigos postais</a:t>
            </a:r>
            <a:endParaRPr lang="pt-BR" sz="2400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en-US" sz="2800">
                <a:solidFill>
                  <a:srgbClr val="FFFF00"/>
                </a:solidFill>
              </a:rPr>
              <a:t>Medicina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2400"/>
              <a:t>Diagnósticos médicos</a:t>
            </a:r>
            <a:endParaRPr lang="pt-BR" sz="2400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en-US" sz="2800">
                <a:solidFill>
                  <a:srgbClr val="FFFF00"/>
                </a:solidFill>
              </a:rPr>
              <a:t>Síntese de voz</a:t>
            </a:r>
            <a:endParaRPr lang="pt-BR" sz="2800">
              <a:solidFill>
                <a:srgbClr val="FFFF00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en-US" sz="2800">
                <a:solidFill>
                  <a:srgbClr val="FFFF00"/>
                </a:solidFill>
              </a:rPr>
              <a:t>Reconhecimento </a:t>
            </a:r>
            <a:r>
              <a:rPr lang="pt-BR" sz="2800">
                <a:solidFill>
                  <a:srgbClr val="FFFF00"/>
                </a:solidFill>
              </a:rPr>
              <a:t> de voz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Wingdings" pitchFamily="2" charset="2"/>
              <a:buChar char="§"/>
            </a:pPr>
            <a:r>
              <a:rPr lang="en-US" sz="2800">
                <a:solidFill>
                  <a:srgbClr val="FFFF00"/>
                </a:solidFill>
              </a:rPr>
              <a:t>Negócios 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2400"/>
              <a:t>Análise de risco</a:t>
            </a:r>
            <a:endParaRPr lang="pt-BR" sz="2400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endParaRPr lang="pt-BR" sz="2800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endParaRPr lang="pt-BR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041" name="Group 57"/>
          <p:cNvGraphicFramePr>
            <a:graphicFrameLocks noGrp="1"/>
          </p:cNvGraphicFramePr>
          <p:nvPr>
            <p:ph idx="1"/>
          </p:nvPr>
        </p:nvGraphicFramePr>
        <p:xfrm>
          <a:off x="1266825" y="493713"/>
          <a:ext cx="7772400" cy="6264276"/>
        </p:xfrm>
        <a:graphic>
          <a:graphicData uri="http://schemas.openxmlformats.org/drawingml/2006/table">
            <a:tbl>
              <a:tblPr/>
              <a:tblGrid>
                <a:gridCol w="311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1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           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Aplicação 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MS Mincho" pitchFamily="49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Indústria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 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MS Mincho" pitchFamily="49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Função 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Marketing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 de Banco de Dados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Todas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Agrupamento, Classificação e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Modelagem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Gerenciamento de Relações de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Todas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Agrupamento, Classificação e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Clientes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Modelagem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Detecção de Fraudes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Financeira e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Classificação e Modelagem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Saúde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Reconhecimento de Caracteres Ópticos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Financeira e Varejo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Classificação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Reconhecimento de Caracteres de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Informática e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Agrupamento e Classificação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Caligrafia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MS Mincho" pitchFamily="49" charset="-128"/>
                        </a:rPr>
                        <a:t>Financeira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0" lang="pt-BR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1963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PROGRAMA</a:t>
            </a:r>
            <a:endParaRPr lang="pt-BR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772400" cy="4953000"/>
          </a:xfrm>
        </p:spPr>
        <p:txBody>
          <a:bodyPr/>
          <a:lstStyle/>
          <a:p>
            <a:pPr>
              <a:buFont typeface="Symbol" pitchFamily="18" charset="2"/>
              <a:buNone/>
            </a:pPr>
            <a:r>
              <a:rPr lang="en-US" dirty="0"/>
              <a:t>1 -  </a:t>
            </a:r>
            <a:r>
              <a:rPr lang="en-US" dirty="0" err="1"/>
              <a:t>Introdução</a:t>
            </a:r>
            <a:r>
              <a:rPr lang="en-US" dirty="0"/>
              <a:t>, </a:t>
            </a:r>
            <a:r>
              <a:rPr lang="en-US" dirty="0" err="1"/>
              <a:t>Histórico</a:t>
            </a:r>
            <a:endParaRPr lang="en-US" dirty="0"/>
          </a:p>
          <a:p>
            <a:pPr>
              <a:buFont typeface="Symbol" pitchFamily="18" charset="2"/>
              <a:buNone/>
            </a:pPr>
            <a:r>
              <a:rPr lang="en-US" dirty="0"/>
              <a:t>2 – </a:t>
            </a:r>
            <a:r>
              <a:rPr lang="en-US" dirty="0" err="1"/>
              <a:t>Conceitos</a:t>
            </a:r>
            <a:r>
              <a:rPr lang="en-US" dirty="0"/>
              <a:t> </a:t>
            </a:r>
            <a:r>
              <a:rPr lang="en-US" dirty="0" err="1"/>
              <a:t>básicos</a:t>
            </a:r>
            <a:endParaRPr lang="en-US" dirty="0"/>
          </a:p>
          <a:p>
            <a:pPr>
              <a:buFont typeface="Symbol" pitchFamily="18" charset="2"/>
              <a:buNone/>
            </a:pPr>
            <a:r>
              <a:rPr lang="en-US" dirty="0"/>
              <a:t>3 – </a:t>
            </a:r>
            <a:r>
              <a:rPr lang="en-US" dirty="0" err="1"/>
              <a:t>Perceptrons</a:t>
            </a:r>
            <a:endParaRPr lang="en-US" dirty="0"/>
          </a:p>
          <a:p>
            <a:pPr>
              <a:buFont typeface="Symbol" pitchFamily="18" charset="2"/>
              <a:buNone/>
            </a:pPr>
            <a:r>
              <a:rPr lang="en-US" dirty="0"/>
              <a:t>4 – Redes </a:t>
            </a:r>
            <a:r>
              <a:rPr lang="en-US" dirty="0" err="1"/>
              <a:t>Multicamadas</a:t>
            </a:r>
            <a:endParaRPr lang="en-US" dirty="0"/>
          </a:p>
          <a:p>
            <a:pPr>
              <a:buFont typeface="Symbol" pitchFamily="18" charset="2"/>
              <a:buNone/>
            </a:pPr>
            <a:r>
              <a:rPr lang="en-US" dirty="0"/>
              <a:t>5 – Redes auto-</a:t>
            </a:r>
            <a:r>
              <a:rPr lang="en-US" dirty="0" err="1"/>
              <a:t>organizáveis</a:t>
            </a:r>
            <a:endParaRPr lang="en-US" dirty="0"/>
          </a:p>
          <a:p>
            <a:pPr>
              <a:buFont typeface="Symbol" pitchFamily="18" charset="2"/>
              <a:buNone/>
            </a:pPr>
            <a:r>
              <a:rPr lang="en-US" dirty="0"/>
              <a:t>6 – Redes </a:t>
            </a:r>
            <a:r>
              <a:rPr lang="en-US" dirty="0" err="1"/>
              <a:t>Recorrentes</a:t>
            </a:r>
            <a:endParaRPr lang="en-US" dirty="0"/>
          </a:p>
          <a:p>
            <a:pPr>
              <a:buFont typeface="Symbol" pitchFamily="18" charset="2"/>
              <a:buNone/>
            </a:pPr>
            <a:r>
              <a:rPr lang="en-US" dirty="0"/>
              <a:t>7 – Redes </a:t>
            </a:r>
            <a:r>
              <a:rPr lang="en-US" dirty="0" err="1"/>
              <a:t>Neurais</a:t>
            </a:r>
            <a:r>
              <a:rPr lang="en-US" dirty="0"/>
              <a:t> </a:t>
            </a:r>
            <a:r>
              <a:rPr lang="en-US" dirty="0" err="1"/>
              <a:t>Convolucionais</a:t>
            </a:r>
            <a:endParaRPr lang="en-US" dirty="0"/>
          </a:p>
          <a:p>
            <a:pPr>
              <a:buFont typeface="Symbol" pitchFamily="18" charset="2"/>
              <a:buNone/>
            </a:pPr>
            <a:r>
              <a:rPr lang="en-US" dirty="0"/>
              <a:t>8 - </a:t>
            </a:r>
            <a:r>
              <a:rPr lang="en-US" dirty="0" err="1"/>
              <a:t>Aplicações</a:t>
            </a:r>
            <a:endParaRPr lang="en-US" dirty="0"/>
          </a:p>
          <a:p>
            <a:pPr>
              <a:buFont typeface="Symbol" pitchFamily="18" charset="2"/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Bibliografia:</a:t>
            </a:r>
            <a:endParaRPr lang="pt-BR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2976" y="1571612"/>
            <a:ext cx="7772400" cy="3276600"/>
          </a:xfrm>
        </p:spPr>
        <p:txBody>
          <a:bodyPr/>
          <a:lstStyle/>
          <a:p>
            <a:r>
              <a:rPr lang="en-US" dirty="0" err="1"/>
              <a:t>Fausett</a:t>
            </a:r>
            <a:r>
              <a:rPr lang="en-US" dirty="0"/>
              <a:t>, </a:t>
            </a:r>
            <a:r>
              <a:rPr lang="en-US" dirty="0" err="1"/>
              <a:t>Laurene</a:t>
            </a:r>
            <a:r>
              <a:rPr lang="en-US" dirty="0"/>
              <a:t>. Fundamentals of Neural Networks. Prentice Hall, 1994.</a:t>
            </a:r>
          </a:p>
          <a:p>
            <a:r>
              <a:rPr lang="en-US" dirty="0" err="1"/>
              <a:t>Da</a:t>
            </a:r>
            <a:r>
              <a:rPr lang="en-US" dirty="0"/>
              <a:t> Silva, Ivan </a:t>
            </a:r>
            <a:r>
              <a:rPr lang="en-US" dirty="0" err="1"/>
              <a:t>Nunes</a:t>
            </a:r>
            <a:r>
              <a:rPr lang="en-US" dirty="0"/>
              <a:t>. </a:t>
            </a:r>
            <a:r>
              <a:rPr lang="en-US" dirty="0" err="1"/>
              <a:t>Redes</a:t>
            </a:r>
            <a:r>
              <a:rPr lang="en-US" dirty="0"/>
              <a:t> </a:t>
            </a:r>
            <a:r>
              <a:rPr lang="en-US" dirty="0" err="1"/>
              <a:t>Neurais</a:t>
            </a:r>
            <a:r>
              <a:rPr lang="en-US" dirty="0"/>
              <a:t> </a:t>
            </a:r>
            <a:r>
              <a:rPr lang="en-US" dirty="0" err="1"/>
              <a:t>Artificiais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Engenharia</a:t>
            </a:r>
            <a:r>
              <a:rPr lang="en-US" dirty="0"/>
              <a:t> e </a:t>
            </a:r>
            <a:r>
              <a:rPr lang="en-US" dirty="0" err="1"/>
              <a:t>Ciências</a:t>
            </a:r>
            <a:r>
              <a:rPr lang="en-US" dirty="0"/>
              <a:t> </a:t>
            </a:r>
            <a:r>
              <a:rPr lang="en-US" dirty="0" err="1"/>
              <a:t>Aplicadas</a:t>
            </a:r>
            <a:r>
              <a:rPr lang="en-US" dirty="0"/>
              <a:t>-Um </a:t>
            </a:r>
            <a:r>
              <a:rPr lang="en-US" dirty="0" err="1"/>
              <a:t>curso</a:t>
            </a:r>
            <a:r>
              <a:rPr lang="en-US" dirty="0"/>
              <a:t> </a:t>
            </a:r>
            <a:r>
              <a:rPr lang="en-US" dirty="0" err="1"/>
              <a:t>prático</a:t>
            </a:r>
            <a:r>
              <a:rPr lang="en-US" dirty="0"/>
              <a:t>. </a:t>
            </a:r>
            <a:r>
              <a:rPr lang="en-US" dirty="0" err="1"/>
              <a:t>ArtLiber</a:t>
            </a:r>
            <a:r>
              <a:rPr lang="en-US" dirty="0"/>
              <a:t> Ed. , 2010.</a:t>
            </a:r>
          </a:p>
          <a:p>
            <a:r>
              <a:rPr lang="en-US" dirty="0" err="1"/>
              <a:t>Haykin</a:t>
            </a:r>
            <a:r>
              <a:rPr lang="en-US" dirty="0"/>
              <a:t>, Simon. </a:t>
            </a:r>
            <a:r>
              <a:rPr lang="en-US" dirty="0" err="1"/>
              <a:t>Redes</a:t>
            </a:r>
            <a:r>
              <a:rPr lang="en-US" dirty="0"/>
              <a:t> </a:t>
            </a:r>
            <a:r>
              <a:rPr lang="en-US" dirty="0" err="1"/>
              <a:t>Neurais</a:t>
            </a:r>
            <a:r>
              <a:rPr lang="en-US" dirty="0"/>
              <a:t>, </a:t>
            </a:r>
            <a:r>
              <a:rPr lang="en-US" dirty="0" err="1"/>
              <a:t>Princípios</a:t>
            </a:r>
            <a:r>
              <a:rPr lang="en-US" dirty="0"/>
              <a:t> e </a:t>
            </a:r>
            <a:r>
              <a:rPr lang="en-US" dirty="0" err="1"/>
              <a:t>Prática</a:t>
            </a:r>
            <a:r>
              <a:rPr lang="en-US" dirty="0"/>
              <a:t>. Bookman, 2001.</a:t>
            </a:r>
          </a:p>
          <a:p>
            <a:r>
              <a:rPr lang="en-US" dirty="0" err="1"/>
              <a:t>Artigos</a:t>
            </a:r>
            <a:r>
              <a:rPr lang="en-US" dirty="0"/>
              <a:t>.</a:t>
            </a:r>
            <a:endParaRPr lang="pt-B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1152000" y="276120"/>
            <a:ext cx="7919640" cy="2099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Trabalho</a:t>
            </a:r>
            <a:r>
              <a:rPr lang="en-US" sz="36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01</a:t>
            </a:r>
            <a:r>
              <a:rPr lang="en-US" sz="32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</a:t>
            </a:r>
            <a:endParaRPr lang="pt-BR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</a:t>
            </a:r>
            <a:endParaRPr lang="pt-BR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Uma </a:t>
            </a:r>
            <a:r>
              <a:rPr lang="en-US" sz="32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aplicação</a:t>
            </a:r>
            <a:r>
              <a:rPr lang="en-US" sz="32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de </a:t>
            </a:r>
            <a:r>
              <a:rPr lang="en-US" sz="32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Redes</a:t>
            </a:r>
            <a:r>
              <a:rPr lang="en-US" sz="32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</a:t>
            </a:r>
            <a:r>
              <a:rPr lang="en-US" sz="32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Neurais</a:t>
            </a:r>
            <a:r>
              <a:rPr lang="en-US" sz="32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</a:t>
            </a:r>
            <a:r>
              <a:rPr lang="en-US" sz="32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Artificiais</a:t>
            </a:r>
            <a:endParaRPr lang="en-US" sz="3200" b="0" strike="noStrike" spc="-1" dirty="0">
              <a:solidFill>
                <a:srgbClr val="FFCC66"/>
              </a:solidFill>
              <a:latin typeface="Times New Roman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endParaRPr lang="pt-BR" sz="3200" b="0" strike="noStrike" spc="-1" dirty="0">
              <a:latin typeface="Arial"/>
            </a:endParaRPr>
          </a:p>
        </p:txBody>
      </p:sp>
      <p:sp>
        <p:nvSpPr>
          <p:cNvPr id="110" name="CustomShape 2"/>
          <p:cNvSpPr/>
          <p:nvPr/>
        </p:nvSpPr>
        <p:spPr>
          <a:xfrm>
            <a:off x="1230840" y="2370807"/>
            <a:ext cx="7913160" cy="40500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0200" algn="l">
              <a:lnSpc>
                <a:spcPct val="100000"/>
              </a:lnSpc>
              <a:spcBef>
                <a:spcPts val="641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en-US" sz="2000" b="0" strike="noStrike" spc="-1" dirty="0">
                <a:latin typeface="Times New Roman"/>
                <a:ea typeface="DejaVu Sans"/>
              </a:rPr>
              <a:t>Fazer um </a:t>
            </a:r>
            <a:r>
              <a:rPr lang="en-US" sz="2000" b="0" strike="noStrike" spc="-1" dirty="0" err="1">
                <a:latin typeface="Times New Roman"/>
                <a:ea typeface="DejaVu Sans"/>
              </a:rPr>
              <a:t>resumo</a:t>
            </a:r>
            <a:r>
              <a:rPr lang="en-US" sz="2000" b="0" strike="noStrike" spc="-1" dirty="0">
                <a:latin typeface="Times New Roman"/>
                <a:ea typeface="DejaVu Sans"/>
              </a:rPr>
              <a:t> da </a:t>
            </a:r>
            <a:r>
              <a:rPr lang="en-US" sz="2000" b="0" strike="noStrike" spc="-1" dirty="0" err="1">
                <a:latin typeface="Times New Roman"/>
                <a:ea typeface="DejaVu Sans"/>
              </a:rPr>
              <a:t>aplicação</a:t>
            </a:r>
            <a:r>
              <a:rPr lang="en-US" sz="2000" b="0" strike="noStrike" spc="-1" dirty="0">
                <a:latin typeface="Times New Roman"/>
                <a:ea typeface="DejaVu Sans"/>
              </a:rPr>
              <a:t> </a:t>
            </a:r>
            <a:r>
              <a:rPr lang="en-US" sz="2000" b="0" strike="noStrike" spc="-1" dirty="0" err="1">
                <a:latin typeface="Times New Roman"/>
                <a:ea typeface="DejaVu Sans"/>
              </a:rPr>
              <a:t>encontrada</a:t>
            </a:r>
            <a:r>
              <a:rPr lang="en-US" sz="2000" b="0" strike="noStrike" spc="-1" dirty="0">
                <a:latin typeface="Times New Roman"/>
                <a:ea typeface="DejaVu Sans"/>
              </a:rPr>
              <a:t> e </a:t>
            </a:r>
            <a:r>
              <a:rPr lang="en-US" sz="2000" b="0" strike="noStrike" spc="-1" dirty="0" err="1">
                <a:latin typeface="Times New Roman"/>
                <a:ea typeface="DejaVu Sans"/>
              </a:rPr>
              <a:t>uma</a:t>
            </a:r>
            <a:r>
              <a:rPr lang="en-US" sz="2000" b="0" strike="noStrike" spc="-1" dirty="0">
                <a:latin typeface="Times New Roman"/>
                <a:ea typeface="DejaVu Sans"/>
              </a:rPr>
              <a:t> </a:t>
            </a:r>
            <a:r>
              <a:rPr lang="en-US" sz="2000" b="0" strike="noStrike" spc="-1" dirty="0" err="1">
                <a:latin typeface="Times New Roman"/>
                <a:ea typeface="DejaVu Sans"/>
              </a:rPr>
              <a:t>crítica</a:t>
            </a:r>
            <a:r>
              <a:rPr lang="en-US" sz="2000" b="0" strike="noStrike" spc="-1" dirty="0">
                <a:latin typeface="Times New Roman"/>
                <a:ea typeface="DejaVu Sans"/>
              </a:rPr>
              <a:t> a </a:t>
            </a:r>
            <a:r>
              <a:rPr lang="en-US" sz="2000" b="0" strike="noStrike" spc="-1" dirty="0" err="1">
                <a:latin typeface="Times New Roman"/>
                <a:ea typeface="DejaVu Sans"/>
              </a:rPr>
              <a:t>respeito</a:t>
            </a:r>
            <a:r>
              <a:rPr lang="en-US" sz="2000" b="0" strike="noStrike" spc="-1" dirty="0">
                <a:latin typeface="Times New Roman"/>
                <a:ea typeface="DejaVu Sans"/>
              </a:rPr>
              <a:t>.</a:t>
            </a:r>
            <a:endParaRPr lang="pt-BR" sz="2000" b="0" strike="noStrike" spc="-1" dirty="0">
              <a:latin typeface="Arial"/>
            </a:endParaRPr>
          </a:p>
          <a:p>
            <a:pPr marL="343080" indent="-340200" algn="l">
              <a:lnSpc>
                <a:spcPct val="100000"/>
              </a:lnSpc>
              <a:spcBef>
                <a:spcPts val="641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en-US" sz="2000" b="0" strike="noStrike" spc="-1" dirty="0" err="1">
                <a:latin typeface="Times New Roman"/>
                <a:ea typeface="DejaVu Sans"/>
              </a:rPr>
              <a:t>Relatório</a:t>
            </a:r>
            <a:r>
              <a:rPr lang="en-US" sz="2000" b="0" strike="noStrike" spc="-1" dirty="0">
                <a:latin typeface="Times New Roman"/>
                <a:ea typeface="DejaVu Sans"/>
              </a:rPr>
              <a:t> </a:t>
            </a:r>
            <a:r>
              <a:rPr lang="en-US" sz="2000" b="0" strike="noStrike" spc="-1" dirty="0" err="1">
                <a:latin typeface="Times New Roman"/>
                <a:ea typeface="DejaVu Sans"/>
              </a:rPr>
              <a:t>em</a:t>
            </a:r>
            <a:r>
              <a:rPr lang="en-US" sz="2000" b="0" strike="noStrike" spc="-1" dirty="0">
                <a:latin typeface="Times New Roman"/>
                <a:ea typeface="DejaVu Sans"/>
              </a:rPr>
              <a:t> pdf </a:t>
            </a:r>
            <a:r>
              <a:rPr lang="en-US" sz="2000" b="0" strike="noStrike" spc="-1" dirty="0" err="1">
                <a:latin typeface="Times New Roman"/>
                <a:ea typeface="DejaVu Sans"/>
              </a:rPr>
              <a:t>deverá</a:t>
            </a:r>
            <a:r>
              <a:rPr lang="en-US" sz="2000" b="0" strike="noStrike" spc="-1" dirty="0">
                <a:latin typeface="Times New Roman"/>
                <a:ea typeface="DejaVu Sans"/>
              </a:rPr>
              <a:t> </a:t>
            </a:r>
            <a:r>
              <a:rPr lang="en-US" sz="2000" b="0" strike="noStrike" spc="-1" dirty="0" err="1">
                <a:latin typeface="Times New Roman"/>
                <a:ea typeface="DejaVu Sans"/>
              </a:rPr>
              <a:t>ter</a:t>
            </a:r>
            <a:r>
              <a:rPr lang="en-US" sz="2000" b="0" strike="noStrike" spc="-1" dirty="0">
                <a:latin typeface="Times New Roman"/>
                <a:ea typeface="DejaVu Sans"/>
              </a:rPr>
              <a:t> </a:t>
            </a:r>
            <a:r>
              <a:rPr lang="en-US" sz="2000" b="0" strike="noStrike" spc="-1" dirty="0" err="1">
                <a:latin typeface="Times New Roman"/>
                <a:ea typeface="DejaVu Sans"/>
              </a:rPr>
              <a:t>até</a:t>
            </a:r>
            <a:r>
              <a:rPr lang="en-US" sz="2000" b="0" strike="noStrike" spc="-1" dirty="0">
                <a:latin typeface="Times New Roman"/>
                <a:ea typeface="DejaVu Sans"/>
              </a:rPr>
              <a:t> 3 </a:t>
            </a:r>
            <a:r>
              <a:rPr lang="en-US" sz="2000" b="0" strike="noStrike" spc="-1" dirty="0" err="1">
                <a:latin typeface="Times New Roman"/>
                <a:ea typeface="DejaVu Sans"/>
              </a:rPr>
              <a:t>páginas</a:t>
            </a:r>
            <a:r>
              <a:rPr lang="en-US" sz="2000" b="0" strike="noStrike" spc="-1" dirty="0">
                <a:latin typeface="Times New Roman"/>
                <a:ea typeface="DejaVu Sans"/>
              </a:rPr>
              <a:t>, </a:t>
            </a:r>
            <a:r>
              <a:rPr lang="en-US" sz="2000" b="0" strike="noStrike" spc="-1" dirty="0" err="1">
                <a:latin typeface="Times New Roman"/>
                <a:ea typeface="DejaVu Sans"/>
              </a:rPr>
              <a:t>além</a:t>
            </a:r>
            <a:r>
              <a:rPr lang="en-US" sz="2000" b="0" strike="noStrike" spc="-1" dirty="0">
                <a:latin typeface="Times New Roman"/>
                <a:ea typeface="DejaVu Sans"/>
              </a:rPr>
              <a:t> da </a:t>
            </a:r>
            <a:r>
              <a:rPr lang="en-US" sz="2000" b="0" strike="noStrike" spc="-1" dirty="0" err="1">
                <a:latin typeface="Times New Roman"/>
                <a:ea typeface="DejaVu Sans"/>
              </a:rPr>
              <a:t>página</a:t>
            </a:r>
            <a:r>
              <a:rPr lang="en-US" sz="2000" b="0" strike="noStrike" spc="-1" dirty="0">
                <a:latin typeface="Times New Roman"/>
                <a:ea typeface="DejaVu Sans"/>
              </a:rPr>
              <a:t> de </a:t>
            </a:r>
            <a:r>
              <a:rPr lang="en-US" sz="2000" b="0" strike="noStrike" spc="-1" dirty="0" err="1">
                <a:latin typeface="Times New Roman"/>
                <a:ea typeface="DejaVu Sans"/>
              </a:rPr>
              <a:t>rosto</a:t>
            </a:r>
            <a:r>
              <a:rPr lang="en-US" sz="2000" b="0" strike="noStrike" spc="-1" dirty="0">
                <a:latin typeface="Times New Roman"/>
                <a:ea typeface="DejaVu Sans"/>
              </a:rPr>
              <a:t>. </a:t>
            </a:r>
          </a:p>
          <a:p>
            <a:pPr marL="343080" indent="-340200" algn="l">
              <a:lnSpc>
                <a:spcPct val="100000"/>
              </a:lnSpc>
              <a:spcBef>
                <a:spcPts val="641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en-US" sz="2000" spc="-1" dirty="0" err="1">
                <a:latin typeface="Times New Roman"/>
                <a:ea typeface="DejaVu Sans"/>
              </a:rPr>
              <a:t>Página</a:t>
            </a:r>
            <a:r>
              <a:rPr lang="en-US" sz="2000" spc="-1" dirty="0">
                <a:latin typeface="Times New Roman"/>
                <a:ea typeface="DejaVu Sans"/>
              </a:rPr>
              <a:t> de </a:t>
            </a:r>
            <a:r>
              <a:rPr lang="en-US" sz="2000" spc="-1" dirty="0" err="1">
                <a:latin typeface="Times New Roman"/>
                <a:ea typeface="DejaVu Sans"/>
              </a:rPr>
              <a:t>rosto</a:t>
            </a:r>
            <a:r>
              <a:rPr lang="en-US" sz="2000" spc="-1" dirty="0">
                <a:latin typeface="Times New Roman"/>
                <a:ea typeface="DejaVu Sans"/>
              </a:rPr>
              <a:t> </a:t>
            </a:r>
            <a:r>
              <a:rPr lang="en-US" sz="2000" spc="-1" dirty="0" err="1">
                <a:latin typeface="Times New Roman"/>
                <a:ea typeface="DejaVu Sans"/>
              </a:rPr>
              <a:t>deve</a:t>
            </a:r>
            <a:r>
              <a:rPr lang="en-US" sz="2000" spc="-1" dirty="0">
                <a:latin typeface="Times New Roman"/>
                <a:ea typeface="DejaVu Sans"/>
              </a:rPr>
              <a:t> </a:t>
            </a:r>
            <a:r>
              <a:rPr lang="en-US" sz="2000" spc="-1" dirty="0" err="1">
                <a:latin typeface="Times New Roman"/>
                <a:ea typeface="DejaVu Sans"/>
              </a:rPr>
              <a:t>conter</a:t>
            </a:r>
            <a:r>
              <a:rPr lang="en-US" sz="2000" spc="-1" dirty="0">
                <a:latin typeface="Times New Roman"/>
                <a:ea typeface="DejaVu Sans"/>
              </a:rPr>
              <a:t>: </a:t>
            </a:r>
            <a:r>
              <a:rPr lang="en-US" sz="2000" spc="-1" dirty="0" err="1">
                <a:latin typeface="Times New Roman"/>
                <a:ea typeface="DejaVu Sans"/>
              </a:rPr>
              <a:t>nome</a:t>
            </a:r>
            <a:r>
              <a:rPr lang="en-US" sz="2000" spc="-1" dirty="0">
                <a:latin typeface="Times New Roman"/>
                <a:ea typeface="DejaVu Sans"/>
              </a:rPr>
              <a:t> da </a:t>
            </a:r>
            <a:r>
              <a:rPr lang="en-US" sz="2000" spc="-1" dirty="0" err="1">
                <a:latin typeface="Times New Roman"/>
                <a:ea typeface="DejaVu Sans"/>
              </a:rPr>
              <a:t>disciplina</a:t>
            </a:r>
            <a:r>
              <a:rPr lang="en-US" sz="2000" spc="-1" dirty="0">
                <a:latin typeface="Times New Roman"/>
                <a:ea typeface="DejaVu Sans"/>
              </a:rPr>
              <a:t>, </a:t>
            </a:r>
            <a:r>
              <a:rPr lang="en-US" sz="2000" spc="-1" dirty="0" err="1">
                <a:latin typeface="Times New Roman"/>
                <a:ea typeface="DejaVu Sans"/>
              </a:rPr>
              <a:t>nome</a:t>
            </a:r>
            <a:r>
              <a:rPr lang="en-US" sz="2000" spc="-1" dirty="0">
                <a:latin typeface="Times New Roman"/>
                <a:ea typeface="DejaVu Sans"/>
              </a:rPr>
              <a:t> do </a:t>
            </a:r>
            <a:r>
              <a:rPr lang="en-US" sz="2000" spc="-1" dirty="0" err="1">
                <a:latin typeface="Times New Roman"/>
                <a:ea typeface="DejaVu Sans"/>
              </a:rPr>
              <a:t>trabalho</a:t>
            </a:r>
            <a:r>
              <a:rPr lang="en-US" sz="2000" spc="-1" dirty="0">
                <a:latin typeface="Times New Roman"/>
                <a:ea typeface="DejaVu Sans"/>
              </a:rPr>
              <a:t>, e o </a:t>
            </a:r>
            <a:r>
              <a:rPr lang="en-US" sz="2000" spc="-1" dirty="0" err="1">
                <a:latin typeface="Times New Roman"/>
                <a:ea typeface="DejaVu Sans"/>
              </a:rPr>
              <a:t>nome</a:t>
            </a:r>
            <a:r>
              <a:rPr lang="en-US" sz="2000" spc="-1" dirty="0">
                <a:latin typeface="Times New Roman"/>
                <a:ea typeface="DejaVu Sans"/>
              </a:rPr>
              <a:t> do </a:t>
            </a:r>
            <a:r>
              <a:rPr lang="en-US" sz="2000" spc="-1" dirty="0" err="1">
                <a:latin typeface="Times New Roman"/>
                <a:ea typeface="DejaVu Sans"/>
              </a:rPr>
              <a:t>aluno</a:t>
            </a:r>
            <a:endParaRPr lang="en-US" sz="2000" b="0" strike="noStrike" spc="-1" dirty="0">
              <a:latin typeface="Times New Roman"/>
              <a:ea typeface="DejaVu Sans"/>
            </a:endParaRPr>
          </a:p>
          <a:p>
            <a:pPr marL="343080" indent="-340200" algn="l">
              <a:lnSpc>
                <a:spcPct val="100000"/>
              </a:lnSpc>
              <a:spcBef>
                <a:spcPts val="641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en-US" sz="2000" spc="-1" dirty="0" err="1">
                <a:latin typeface="Times New Roman"/>
              </a:rPr>
              <a:t>Relatório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 err="1">
                <a:latin typeface="Times New Roman"/>
              </a:rPr>
              <a:t>deverá</a:t>
            </a:r>
            <a:r>
              <a:rPr lang="en-US" sz="2000" spc="-1" dirty="0">
                <a:latin typeface="Times New Roman"/>
              </a:rPr>
              <a:t> ser </a:t>
            </a:r>
            <a:r>
              <a:rPr lang="en-US" sz="2000" spc="-1" dirty="0" err="1">
                <a:latin typeface="Times New Roman"/>
              </a:rPr>
              <a:t>postado</a:t>
            </a:r>
            <a:r>
              <a:rPr lang="en-US" sz="2000" spc="-1" dirty="0">
                <a:latin typeface="Times New Roman"/>
              </a:rPr>
              <a:t> no Microsoft Teams - &gt; </a:t>
            </a:r>
            <a:r>
              <a:rPr lang="en-US" sz="2000" spc="-1" dirty="0" err="1">
                <a:latin typeface="Times New Roman"/>
              </a:rPr>
              <a:t>Tarefas</a:t>
            </a:r>
            <a:endParaRPr lang="en-US" sz="2000" spc="-1" dirty="0">
              <a:latin typeface="Times New Roman"/>
            </a:endParaRPr>
          </a:p>
          <a:p>
            <a:pPr marL="343080" indent="-340200" algn="l">
              <a:lnSpc>
                <a:spcPct val="100000"/>
              </a:lnSpc>
              <a:spcBef>
                <a:spcPts val="641"/>
              </a:spcBef>
              <a:buClr>
                <a:srgbClr val="FFCC66"/>
              </a:buClr>
              <a:buSzPct val="90000"/>
              <a:buFont typeface="Symbol"/>
              <a:buChar char="¨"/>
            </a:pPr>
            <a:endParaRPr lang="en-US" sz="2000" spc="-1" dirty="0">
              <a:latin typeface="Times New Roman"/>
            </a:endParaRPr>
          </a:p>
          <a:p>
            <a:pPr marL="343080" indent="-340200">
              <a:lnSpc>
                <a:spcPct val="100000"/>
              </a:lnSpc>
              <a:spcBef>
                <a:spcPts val="641"/>
              </a:spcBef>
              <a:buClr>
                <a:srgbClr val="FFCC66"/>
              </a:buClr>
              <a:buSzPct val="90000"/>
              <a:buFont typeface="Symbol"/>
              <a:buChar char="¨"/>
            </a:pPr>
            <a:endParaRPr lang="pt-BR" sz="2400" b="0" strike="noStrike" spc="-1" dirty="0">
              <a:solidFill>
                <a:schemeClr val="bg2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lang="pt-BR" sz="24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0215599"/>
      </p:ext>
    </p:extLst>
  </p:cSld>
  <p:clrMapOvr>
    <a:masterClrMapping/>
  </p:clrMapOvr>
</p:sld>
</file>

<file path=ppt/theme/theme1.xml><?xml version="1.0" encoding="utf-8"?>
<a:theme xmlns:a="http://schemas.openxmlformats.org/drawingml/2006/main" name="Chave e fechadura">
  <a:themeElements>
    <a:clrScheme name="Chave e fechadura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Chave e fechadur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have e fechadura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ave e fechadura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ve e fechadura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ve e fechadura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ave e fechadura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ave e fechadura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6E0D263096AE543989EDC63A5F204DE" ma:contentTypeVersion="0" ma:contentTypeDescription="Crie um novo documento." ma:contentTypeScope="" ma:versionID="d2bf8263ca76033f33ecfc9d60f6e57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39FCDD-67CC-4863-A8A8-48D81421208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899B2B3-C5E6-4239-B266-189AF63EC10E}"/>
</file>

<file path=customXml/itemProps3.xml><?xml version="1.0" encoding="utf-8"?>
<ds:datastoreItem xmlns:ds="http://schemas.openxmlformats.org/officeDocument/2006/customXml" ds:itemID="{91E0B1E2-F863-4AB0-A28E-BAAD07E162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apresentação\Chave e fechadura.pot</Template>
  <TotalTime>949</TotalTime>
  <Words>687</Words>
  <Application>Microsoft Office PowerPoint</Application>
  <PresentationFormat>Apresentação na tela (4:3)</PresentationFormat>
  <Paragraphs>130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Arial</vt:lpstr>
      <vt:lpstr>Symbol</vt:lpstr>
      <vt:lpstr>Times New Roman</vt:lpstr>
      <vt:lpstr>TimesNewRoman</vt:lpstr>
      <vt:lpstr>Wingdings</vt:lpstr>
      <vt:lpstr>Wingdings-Regular</vt:lpstr>
      <vt:lpstr>Chave e fechadura</vt:lpstr>
      <vt:lpstr>    Redes   Neurais Artificiais</vt:lpstr>
      <vt:lpstr>Motivação:</vt:lpstr>
      <vt:lpstr>Histórico das RNA</vt:lpstr>
      <vt:lpstr>Histórico das RNA</vt:lpstr>
      <vt:lpstr>O que são as Redes Neurais Artificiais.</vt:lpstr>
      <vt:lpstr>O cérebro:</vt:lpstr>
      <vt:lpstr> O cérebro:</vt:lpstr>
      <vt:lpstr>Neurocomputação</vt:lpstr>
      <vt:lpstr>Neurocomputação</vt:lpstr>
      <vt:lpstr>Características das RNA</vt:lpstr>
      <vt:lpstr>Algumas aplicações de RNA</vt:lpstr>
      <vt:lpstr>Apresentação do PowerPoint</vt:lpstr>
      <vt:lpstr>PROGRAMA</vt:lpstr>
      <vt:lpstr>Bibliografia: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Keiji</dc:creator>
  <cp:lastModifiedBy>Keiji Yamanaka</cp:lastModifiedBy>
  <cp:revision>48</cp:revision>
  <dcterms:created xsi:type="dcterms:W3CDTF">1601-01-01T00:00:00Z</dcterms:created>
  <dcterms:modified xsi:type="dcterms:W3CDTF">2026-08-13T13:59:48Z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0x010100B6E0D263096AE543989EDC63A5F204DE</vt:lpwstr>
  </property>
</Properties>
</file>