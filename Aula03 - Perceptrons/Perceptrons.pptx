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04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00B5B"/>
            </a:gs>
            <a:gs pos="50000">
              <a:srgbClr val="6600FF"/>
            </a:gs>
            <a:gs pos="100000">
              <a:srgbClr val="200B5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39760" cy="6854760"/>
          </a:xfrm>
          <a:prstGeom prst="rect">
            <a:avLst/>
          </a:prstGeom>
          <a:ln w="12600">
            <a:noFill/>
          </a:ln>
        </p:spPr>
      </p:pic>
      <p:pic>
        <p:nvPicPr>
          <p:cNvPr id="5" name="Picture 1036"/>
          <p:cNvPicPr/>
          <p:nvPr/>
        </p:nvPicPr>
        <p:blipFill>
          <a:blip r:embed="rId14"/>
          <a:stretch/>
        </p:blipFill>
        <p:spPr>
          <a:xfrm>
            <a:off x="0" y="0"/>
            <a:ext cx="1368360" cy="6854760"/>
          </a:xfrm>
          <a:prstGeom prst="rect">
            <a:avLst/>
          </a:prstGeom>
          <a:ln w="126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FF"/>
            </a:gs>
            <a:gs pos="100000">
              <a:srgbClr val="200B5B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39760" cy="6854760"/>
          </a:xfrm>
          <a:prstGeom prst="rect">
            <a:avLst/>
          </a:prstGeom>
          <a:ln w="1260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FF"/>
            </a:gs>
            <a:gs pos="100000">
              <a:srgbClr val="200B5B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523880" y="1009800"/>
            <a:ext cx="7311960" cy="21128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   </a:t>
            </a:r>
            <a:r>
              <a:rPr lang="en-US" sz="4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  Neurais Artificiais</a:t>
            </a:r>
            <a:endParaRPr lang="pt-BR" sz="4800" b="0" strike="noStrike" spc="-1"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1523880" y="2666880"/>
            <a:ext cx="7007040" cy="3730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</a:t>
            </a:r>
            <a:endParaRPr lang="pt-BR" sz="3200" b="0" strike="noStrike" spc="-1" dirty="0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 </a:t>
            </a:r>
            <a:endParaRPr lang="pt-BR" sz="3200" b="0" strike="noStrike" spc="-1" dirty="0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 err="1" smtClean="0">
                <a:solidFill>
                  <a:srgbClr val="EAEAEA"/>
                </a:solidFill>
                <a:latin typeface="Times New Roman"/>
                <a:ea typeface="DejaVu Sans"/>
              </a:rPr>
              <a:t>Perceptrons</a:t>
            </a:r>
            <a:endParaRPr lang="pt-BR" sz="32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               Prof.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Keiji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Yamanaka 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Faculdade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de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Engenharia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Elétrica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– UFU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			</a:t>
            </a:r>
            <a:endParaRPr lang="pt-BR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69250"/>
            <a:ext cx="5799745" cy="660011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7308304" y="5949280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accent1"/>
                </a:solidFill>
              </a:rPr>
              <a:t>Implementação</a:t>
            </a:r>
          </a:p>
          <a:p>
            <a:r>
              <a:rPr lang="pt-BR" dirty="0">
                <a:solidFill>
                  <a:schemeClr val="accent1"/>
                </a:solidFill>
              </a:rPr>
              <a:t>e</a:t>
            </a:r>
            <a:r>
              <a:rPr lang="pt-BR" dirty="0" smtClean="0">
                <a:solidFill>
                  <a:schemeClr val="accent1"/>
                </a:solidFill>
              </a:rPr>
              <a:t>m </a:t>
            </a:r>
            <a:r>
              <a:rPr lang="pt-BR" dirty="0" err="1" smtClean="0">
                <a:solidFill>
                  <a:schemeClr val="accent1"/>
                </a:solidFill>
              </a:rPr>
              <a:t>Scilab</a:t>
            </a:r>
            <a:r>
              <a:rPr lang="pt-BR" dirty="0" smtClean="0">
                <a:solidFill>
                  <a:schemeClr val="accent1"/>
                </a:solidFill>
              </a:rPr>
              <a:t>.</a:t>
            </a:r>
            <a:endParaRPr lang="pt-BR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9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32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Limitação da Regra de Hebb</a:t>
            </a:r>
            <a:endParaRPr lang="pt-BR" sz="3200" b="0" strike="noStrike" spc="-1"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1368000" y="1584000"/>
            <a:ext cx="7768080" cy="49201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1" name="CustomShape 3"/>
          <p:cNvSpPr/>
          <p:nvPr/>
        </p:nvSpPr>
        <p:spPr>
          <a:xfrm>
            <a:off x="3707904" y="1847520"/>
            <a:ext cx="498960" cy="57204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CustomShape 4"/>
          <p:cNvSpPr/>
          <p:nvPr/>
        </p:nvSpPr>
        <p:spPr>
          <a:xfrm>
            <a:off x="3707904" y="2487600"/>
            <a:ext cx="498960" cy="57204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5"/>
          <p:cNvSpPr/>
          <p:nvPr/>
        </p:nvSpPr>
        <p:spPr>
          <a:xfrm>
            <a:off x="3788544" y="1906920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1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124" name="CustomShape 6"/>
          <p:cNvSpPr/>
          <p:nvPr/>
        </p:nvSpPr>
        <p:spPr>
          <a:xfrm>
            <a:off x="3788544" y="2612880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2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125" name="CustomShape 7"/>
          <p:cNvSpPr/>
          <p:nvPr/>
        </p:nvSpPr>
        <p:spPr>
          <a:xfrm>
            <a:off x="5296224" y="2819520"/>
            <a:ext cx="714960" cy="68112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CustomShape 8"/>
          <p:cNvSpPr/>
          <p:nvPr/>
        </p:nvSpPr>
        <p:spPr>
          <a:xfrm>
            <a:off x="5498904" y="2961360"/>
            <a:ext cx="363960" cy="394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Y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127" name="Line 9"/>
          <p:cNvSpPr/>
          <p:nvPr/>
        </p:nvSpPr>
        <p:spPr>
          <a:xfrm>
            <a:off x="4211904" y="2819520"/>
            <a:ext cx="1084320" cy="31788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Line 10"/>
          <p:cNvSpPr/>
          <p:nvPr/>
        </p:nvSpPr>
        <p:spPr>
          <a:xfrm flipV="1">
            <a:off x="4247184" y="3323520"/>
            <a:ext cx="1049040" cy="18864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Line 11"/>
          <p:cNvSpPr/>
          <p:nvPr/>
        </p:nvSpPr>
        <p:spPr>
          <a:xfrm>
            <a:off x="6019824" y="3168000"/>
            <a:ext cx="360000" cy="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CustomShape 12"/>
          <p:cNvSpPr/>
          <p:nvPr/>
        </p:nvSpPr>
        <p:spPr>
          <a:xfrm>
            <a:off x="4488384" y="2580120"/>
            <a:ext cx="4878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pt-BR" sz="2400" b="0" strike="noStrike" spc="-1" baseline="-800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31" name="CustomShape 13"/>
          <p:cNvSpPr/>
          <p:nvPr/>
        </p:nvSpPr>
        <p:spPr>
          <a:xfrm>
            <a:off x="4488384" y="3035520"/>
            <a:ext cx="4878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pt-BR" sz="2400" b="0" strike="noStrike" spc="-1" baseline="-800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32" name="CustomShape 14"/>
          <p:cNvSpPr/>
          <p:nvPr/>
        </p:nvSpPr>
        <p:spPr>
          <a:xfrm>
            <a:off x="3205080" y="4320000"/>
            <a:ext cx="1186200" cy="3556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3" name="CustomShape 15"/>
          <p:cNvSpPr/>
          <p:nvPr/>
        </p:nvSpPr>
        <p:spPr>
          <a:xfrm>
            <a:off x="6379824" y="2556000"/>
            <a:ext cx="2845080" cy="1198875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</a:t>
            </a:r>
            <a:r>
              <a:rPr lang="pt-BR" sz="24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     1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, se </a:t>
            </a:r>
            <a:r>
              <a:rPr lang="pt-BR" sz="24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yin</a:t>
            </a:r>
            <a:r>
              <a:rPr lang="en-US" sz="24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&gt;=</a:t>
            </a:r>
            <a:r>
              <a:rPr lang="el-G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f(yin) 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=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-1, se </a:t>
            </a:r>
            <a:r>
              <a:rPr lang="pt-BR" sz="24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yin</a:t>
            </a:r>
            <a:r>
              <a:rPr lang="en-US" sz="24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&lt; </a:t>
            </a:r>
            <a:r>
              <a:rPr lang="el-G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θ</a:t>
            </a:r>
            <a:endParaRPr lang="pt-BR" sz="2400" b="0" strike="noStrike" spc="-1" dirty="0">
              <a:latin typeface="Arial"/>
            </a:endParaRPr>
          </a:p>
        </p:txBody>
      </p:sp>
      <p:sp>
        <p:nvSpPr>
          <p:cNvPr id="134" name="Line 16"/>
          <p:cNvSpPr/>
          <p:nvPr/>
        </p:nvSpPr>
        <p:spPr>
          <a:xfrm>
            <a:off x="7333464" y="2536560"/>
            <a:ext cx="0" cy="503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Line 17"/>
          <p:cNvSpPr/>
          <p:nvPr/>
        </p:nvSpPr>
        <p:spPr>
          <a:xfrm>
            <a:off x="7333464" y="3255840"/>
            <a:ext cx="0" cy="50292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Line 18"/>
          <p:cNvSpPr/>
          <p:nvPr/>
        </p:nvSpPr>
        <p:spPr>
          <a:xfrm flipV="1">
            <a:off x="7333464" y="248400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Line 19"/>
          <p:cNvSpPr/>
          <p:nvPr/>
        </p:nvSpPr>
        <p:spPr>
          <a:xfrm flipV="1">
            <a:off x="7244544" y="3062160"/>
            <a:ext cx="71280" cy="7128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" name="Line 20"/>
          <p:cNvSpPr/>
          <p:nvPr/>
        </p:nvSpPr>
        <p:spPr>
          <a:xfrm>
            <a:off x="7352544" y="376524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" name="Line 21"/>
          <p:cNvSpPr/>
          <p:nvPr/>
        </p:nvSpPr>
        <p:spPr>
          <a:xfrm>
            <a:off x="7244544" y="3161880"/>
            <a:ext cx="71280" cy="71640"/>
          </a:xfrm>
          <a:prstGeom prst="line">
            <a:avLst/>
          </a:prstGeom>
          <a:ln w="12600" cap="sq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CustomShape 22"/>
          <p:cNvSpPr/>
          <p:nvPr/>
        </p:nvSpPr>
        <p:spPr>
          <a:xfrm>
            <a:off x="3763117" y="4794120"/>
            <a:ext cx="4695046" cy="829543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yin= 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pt-BR" sz="2400" b="0" strike="noStrike" spc="-1" baseline="-8000" dirty="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. x</a:t>
            </a:r>
            <a:r>
              <a:rPr lang="pt-BR" sz="2400" b="0" strike="noStrike" spc="-1" baseline="-25000" dirty="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+w</a:t>
            </a:r>
            <a:r>
              <a:rPr lang="pt-BR" sz="2400" b="0" strike="noStrike" spc="-1" baseline="-8000" dirty="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. x</a:t>
            </a:r>
            <a:r>
              <a:rPr lang="pt-BR" sz="2400" b="0" strike="noStrike" spc="-1" baseline="-25000" dirty="0">
                <a:solidFill>
                  <a:srgbClr val="EAEAEA"/>
                </a:solidFill>
                <a:latin typeface="Times New Roman"/>
                <a:ea typeface="DejaVu Sans"/>
              </a:rPr>
              <a:t>2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+w</a:t>
            </a:r>
            <a:r>
              <a:rPr lang="pt-BR" sz="2400" b="0" strike="noStrike" spc="-1" baseline="-8000" dirty="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. x</a:t>
            </a:r>
            <a:r>
              <a:rPr lang="pt-BR" sz="2400" b="0" strike="noStrike" spc="-1" baseline="-25000" dirty="0">
                <a:solidFill>
                  <a:srgbClr val="EAEAEA"/>
                </a:solidFill>
                <a:latin typeface="Times New Roman"/>
                <a:ea typeface="DejaVu Sans"/>
              </a:rPr>
              <a:t>3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+w</a:t>
            </a:r>
            <a:r>
              <a:rPr lang="pt-BR" sz="2400" b="0" strike="noStrike" spc="-1" baseline="-8000" dirty="0">
                <a:solidFill>
                  <a:srgbClr val="EAEAEA"/>
                </a:solidFill>
                <a:latin typeface="Times New Roman"/>
                <a:ea typeface="DejaVu Sans"/>
              </a:rPr>
              <a:t>4</a:t>
            </a:r>
            <a:r>
              <a:rPr lang="pt-BR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. </a:t>
            </a:r>
            <a:r>
              <a:rPr lang="pt-BR" sz="24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x</a:t>
            </a:r>
            <a:r>
              <a:rPr lang="pt-BR" sz="2400" b="0" strike="noStrike" spc="-1" baseline="-25000" dirty="0" smtClean="0">
                <a:solidFill>
                  <a:srgbClr val="EAEAEA"/>
                </a:solidFill>
                <a:latin typeface="Times New Roman"/>
                <a:ea typeface="DejaVu Sans"/>
              </a:rPr>
              <a:t>4</a:t>
            </a:r>
            <a:r>
              <a:rPr lang="pt-BR" sz="24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+b</a:t>
            </a:r>
          </a:p>
          <a:p>
            <a:pPr>
              <a:lnSpc>
                <a:spcPct val="100000"/>
              </a:lnSpc>
            </a:pPr>
            <a:r>
              <a:rPr lang="pt-BR" sz="2400" spc="-1" dirty="0" smtClean="0">
                <a:solidFill>
                  <a:srgbClr val="EAEAEA"/>
                </a:solidFill>
                <a:latin typeface="Times New Roman"/>
              </a:rPr>
              <a:t>y=f(yin)</a:t>
            </a:r>
            <a:endParaRPr lang="pt-BR" sz="2400" b="0" strike="noStrike" spc="-1" dirty="0">
              <a:latin typeface="Arial"/>
            </a:endParaRPr>
          </a:p>
        </p:txBody>
      </p:sp>
      <p:graphicFrame>
        <p:nvGraphicFramePr>
          <p:cNvPr id="141" name="Table 23"/>
          <p:cNvGraphicFramePr/>
          <p:nvPr/>
        </p:nvGraphicFramePr>
        <p:xfrm>
          <a:off x="1286280" y="1625040"/>
          <a:ext cx="2244240" cy="2334960"/>
        </p:xfrm>
        <a:graphic>
          <a:graphicData uri="http://schemas.openxmlformats.org/drawingml/2006/table">
            <a:tbl>
              <a:tblPr/>
              <a:tblGrid>
                <a:gridCol w="448920"/>
                <a:gridCol w="448920"/>
                <a:gridCol w="448920"/>
                <a:gridCol w="448920"/>
                <a:gridCol w="448560"/>
              </a:tblGrid>
              <a:tr h="390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s1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s2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s3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s4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  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485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85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-1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-1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-1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85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-1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-1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8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-1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-1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latin typeface="Arial"/>
                        </a:rPr>
                        <a:t>-1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142" name="CustomShape 24"/>
          <p:cNvSpPr/>
          <p:nvPr/>
        </p:nvSpPr>
        <p:spPr>
          <a:xfrm>
            <a:off x="3707904" y="3179520"/>
            <a:ext cx="498960" cy="57204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CustomShape 25"/>
          <p:cNvSpPr/>
          <p:nvPr/>
        </p:nvSpPr>
        <p:spPr>
          <a:xfrm>
            <a:off x="3707904" y="3819600"/>
            <a:ext cx="498960" cy="572040"/>
          </a:xfrm>
          <a:prstGeom prst="ellipse">
            <a:avLst/>
          </a:prstGeom>
          <a:solidFill>
            <a:schemeClr val="accent1"/>
          </a:solidFill>
          <a:ln w="12600" cap="sq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26"/>
          <p:cNvSpPr/>
          <p:nvPr/>
        </p:nvSpPr>
        <p:spPr>
          <a:xfrm>
            <a:off x="3788544" y="3238920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3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145" name="CustomShape 27"/>
          <p:cNvSpPr/>
          <p:nvPr/>
        </p:nvSpPr>
        <p:spPr>
          <a:xfrm>
            <a:off x="3788544" y="3944880"/>
            <a:ext cx="367200" cy="41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000" b="0" strike="noStrike" spc="-1">
                <a:solidFill>
                  <a:srgbClr val="200B5B"/>
                </a:solidFill>
                <a:latin typeface="Times New Roman"/>
                <a:ea typeface="DejaVu Sans"/>
              </a:rPr>
              <a:t>x</a:t>
            </a:r>
            <a:r>
              <a:rPr lang="pt-BR" sz="1600" b="0" strike="noStrike" spc="-1" baseline="-25000">
                <a:solidFill>
                  <a:srgbClr val="200B5B"/>
                </a:solidFill>
                <a:latin typeface="Times New Roman"/>
                <a:ea typeface="DejaVu Sans"/>
              </a:rPr>
              <a:t>4</a:t>
            </a:r>
            <a:endParaRPr lang="pt-BR" sz="1600" b="0" strike="noStrike" spc="-1">
              <a:latin typeface="Arial"/>
            </a:endParaRPr>
          </a:p>
        </p:txBody>
      </p:sp>
      <p:sp>
        <p:nvSpPr>
          <p:cNvPr id="146" name="Line 28"/>
          <p:cNvSpPr/>
          <p:nvPr/>
        </p:nvSpPr>
        <p:spPr>
          <a:xfrm>
            <a:off x="4207944" y="2139480"/>
            <a:ext cx="1199880" cy="68004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Line 29"/>
          <p:cNvSpPr/>
          <p:nvPr/>
        </p:nvSpPr>
        <p:spPr>
          <a:xfrm flipV="1">
            <a:off x="4207944" y="3501000"/>
            <a:ext cx="1271880" cy="65448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Line 30"/>
          <p:cNvSpPr/>
          <p:nvPr/>
        </p:nvSpPr>
        <p:spPr>
          <a:xfrm>
            <a:off x="5623824" y="1944000"/>
            <a:ext cx="28440" cy="873360"/>
          </a:xfrm>
          <a:prstGeom prst="line">
            <a:avLst/>
          </a:prstGeom>
          <a:ln w="12600" cap="sq">
            <a:solidFill>
              <a:srgbClr val="FFFFF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CustomShape 31"/>
          <p:cNvSpPr/>
          <p:nvPr/>
        </p:nvSpPr>
        <p:spPr>
          <a:xfrm>
            <a:off x="4488384" y="1991520"/>
            <a:ext cx="4878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pt-BR" sz="2400" b="0" strike="noStrike" spc="-1" baseline="-8000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50" name="CustomShape 32"/>
          <p:cNvSpPr/>
          <p:nvPr/>
        </p:nvSpPr>
        <p:spPr>
          <a:xfrm>
            <a:off x="4488384" y="3503520"/>
            <a:ext cx="4878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w</a:t>
            </a:r>
            <a:r>
              <a:rPr lang="pt-BR" sz="2400" b="0" strike="noStrike" spc="-1" baseline="-8000">
                <a:solidFill>
                  <a:srgbClr val="EAEAEA"/>
                </a:solidFill>
                <a:latin typeface="Times New Roman"/>
                <a:ea typeface="DejaVu Sans"/>
              </a:rPr>
              <a:t>4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51" name="CustomShape 33"/>
          <p:cNvSpPr/>
          <p:nvPr/>
        </p:nvSpPr>
        <p:spPr>
          <a:xfrm>
            <a:off x="5645424" y="2099520"/>
            <a:ext cx="3330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b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52" name="CustomShape 34"/>
          <p:cNvSpPr/>
          <p:nvPr/>
        </p:nvSpPr>
        <p:spPr>
          <a:xfrm>
            <a:off x="5465424" y="1487520"/>
            <a:ext cx="333000" cy="455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1</a:t>
            </a:r>
            <a:endParaRPr lang="pt-BR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1219320" y="44624"/>
            <a:ext cx="7769160" cy="12031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Perceptrons</a:t>
            </a:r>
            <a:endParaRPr lang="pt-BR" sz="4400" b="0" strike="noStrike" spc="-1" dirty="0"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1219320" y="1340768"/>
            <a:ext cx="7769160" cy="1396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840">
              <a:lnSpc>
                <a:spcPct val="100000"/>
              </a:lnSpc>
              <a:spcBef>
                <a:spcPts val="400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en-US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Frank Rosenblatt (</a:t>
            </a:r>
            <a:r>
              <a:rPr lang="en-US" sz="20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psicólogo</a:t>
            </a:r>
            <a:r>
              <a:rPr lang="pt-BR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)  usa neurônio de </a:t>
            </a:r>
            <a:r>
              <a:rPr lang="pt-BR" sz="20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McCulloch-Pitts</a:t>
            </a:r>
            <a:r>
              <a:rPr lang="pt-BR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e propõe os </a:t>
            </a:r>
            <a:r>
              <a:rPr lang="pt-BR" sz="20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Perceptrons</a:t>
            </a:r>
            <a:r>
              <a:rPr lang="pt-BR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e constrói Mark I </a:t>
            </a:r>
            <a:r>
              <a:rPr lang="pt-BR" sz="20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Perceptron</a:t>
            </a:r>
            <a:r>
              <a:rPr lang="pt-BR" sz="20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em 1960. Foi o primeiro computador que aprendia novas habilidades por tentativa e erro.</a:t>
            </a:r>
            <a:endParaRPr lang="pt-BR" sz="2000" b="0" strike="noStrike" spc="-1" dirty="0">
              <a:latin typeface="Arial"/>
            </a:endParaRPr>
          </a:p>
        </p:txBody>
      </p:sp>
      <p:pic>
        <p:nvPicPr>
          <p:cNvPr id="155" name="Imagem 4_0" descr="markiperceptron1.png"/>
          <p:cNvPicPr/>
          <p:nvPr/>
        </p:nvPicPr>
        <p:blipFill>
          <a:blip r:embed="rId2"/>
          <a:stretch/>
        </p:blipFill>
        <p:spPr>
          <a:xfrm>
            <a:off x="2643120" y="2714760"/>
            <a:ext cx="4988520" cy="2450880"/>
          </a:xfrm>
          <a:prstGeom prst="rect">
            <a:avLst/>
          </a:prstGeom>
          <a:ln w="0">
            <a:noFill/>
          </a:ln>
        </p:spPr>
      </p:pic>
      <p:pic>
        <p:nvPicPr>
          <p:cNvPr id="156" name="Imagem 5_0" descr="markiperceptron2.png"/>
          <p:cNvPicPr/>
          <p:nvPr/>
        </p:nvPicPr>
        <p:blipFill>
          <a:blip r:embed="rId3"/>
          <a:stretch/>
        </p:blipFill>
        <p:spPr>
          <a:xfrm>
            <a:off x="1571760" y="5333408"/>
            <a:ext cx="7283520" cy="1407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1219320" y="304920"/>
            <a:ext cx="7769160" cy="12031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Perceptrons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1219320" y="1600200"/>
            <a:ext cx="7769160" cy="13968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9840">
              <a:lnSpc>
                <a:spcPct val="100000"/>
              </a:lnSpc>
              <a:spcBef>
                <a:spcPts val="561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en-US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Frank Rosenblatt  publica em 1957  </a:t>
            </a:r>
            <a:r>
              <a:rPr lang="en-US" sz="2800" b="0" i="1" strike="noStrike" spc="-1">
                <a:solidFill>
                  <a:srgbClr val="EAEAEA"/>
                </a:solidFill>
                <a:latin typeface="Times New Roman"/>
                <a:ea typeface="DejaVu Sans"/>
              </a:rPr>
              <a:t> The perceptron: a perceiving and recognizing automaton </a:t>
            </a:r>
            <a:r>
              <a:rPr lang="en-US" sz="28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e apresenta  o primeiro algoritmo de aprendizagem de máquina implementado em FORTRAN num IBM 704 e vira notícia no New York Times.</a:t>
            </a: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pt-BR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679320" y="-55080"/>
            <a:ext cx="7767000" cy="12009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Perceptrons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60" name="CustomShape 2"/>
          <p:cNvSpPr/>
          <p:nvPr/>
        </p:nvSpPr>
        <p:spPr>
          <a:xfrm>
            <a:off x="62280" y="1214280"/>
            <a:ext cx="3490200" cy="637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37680">
              <a:lnSpc>
                <a:spcPct val="100000"/>
              </a:lnSpc>
              <a:spcBef>
                <a:spcPts val="479"/>
              </a:spcBef>
              <a:buClr>
                <a:srgbClr val="FFCC66"/>
              </a:buClr>
              <a:buSzPct val="90000"/>
              <a:buFont typeface="Symbol"/>
              <a:buChar char="¨"/>
            </a:pPr>
            <a:r>
              <a:rPr lang="en-US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Algoritmo Perceptron: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61" name="Imagem 3_1" descr="ScreenHunter_604 Sep. 04 16.21.jpg"/>
          <p:cNvPicPr/>
          <p:nvPr/>
        </p:nvPicPr>
        <p:blipFill>
          <a:blip r:embed="rId2"/>
          <a:stretch/>
        </p:blipFill>
        <p:spPr>
          <a:xfrm>
            <a:off x="3327480" y="1008000"/>
            <a:ext cx="5705640" cy="5542560"/>
          </a:xfrm>
          <a:prstGeom prst="rect">
            <a:avLst/>
          </a:prstGeom>
          <a:ln w="0">
            <a:noFill/>
          </a:ln>
        </p:spPr>
      </p:pic>
      <p:sp>
        <p:nvSpPr>
          <p:cNvPr id="162" name="CustomShape 3"/>
          <p:cNvSpPr/>
          <p:nvPr/>
        </p:nvSpPr>
        <p:spPr>
          <a:xfrm>
            <a:off x="252000" y="1728000"/>
            <a:ext cx="3057120" cy="273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EEB00B"/>
                </a:solidFill>
                <a:latin typeface="Arial"/>
                <a:ea typeface="DejaVu Sans"/>
              </a:rPr>
              <a:t>Novidades: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EEB00B"/>
                </a:solidFill>
                <a:latin typeface="Arial"/>
                <a:ea typeface="DejaVu Sans"/>
              </a:rPr>
              <a:t>-  Atualização dos pesos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EEB00B"/>
                </a:solidFill>
                <a:latin typeface="Arial"/>
                <a:ea typeface="DejaVu Sans"/>
              </a:rPr>
              <a:t>   se houver erro (y</a:t>
            </a:r>
            <a:r>
              <a:rPr lang="pt-BR" sz="1800" b="0" strike="noStrike" spc="-1">
                <a:solidFill>
                  <a:srgbClr val="EEB00B"/>
                </a:solidFill>
                <a:latin typeface="Times New Roman"/>
                <a:ea typeface="Times New Roman"/>
              </a:rPr>
              <a:t>≠t)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EEB00B"/>
                </a:solidFill>
                <a:latin typeface="Arial"/>
                <a:ea typeface="Times New Roman"/>
              </a:rPr>
              <a:t>- Usa iteração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EEB00B"/>
                </a:solidFill>
                <a:latin typeface="Arial"/>
                <a:ea typeface="Times New Roman"/>
              </a:rPr>
              <a:t>- Taxa de aprendizagem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990720" y="304920"/>
            <a:ext cx="7995600" cy="48934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             Perceptrons </a:t>
            </a: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1)  Aplicação em funções lógicas</a:t>
            </a: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1.1) OU                           1.2) E</a:t>
            </a: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>
              <a:latin typeface="Arial"/>
            </a:endParaRPr>
          </a:p>
        </p:txBody>
      </p:sp>
      <p:graphicFrame>
        <p:nvGraphicFramePr>
          <p:cNvPr id="164" name="Table 2"/>
          <p:cNvGraphicFramePr/>
          <p:nvPr/>
        </p:nvGraphicFramePr>
        <p:xfrm>
          <a:off x="1788480" y="3522960"/>
          <a:ext cx="1882800" cy="2433600"/>
        </p:xfrm>
        <a:graphic>
          <a:graphicData uri="http://schemas.openxmlformats.org/drawingml/2006/table">
            <a:tbl>
              <a:tblPr/>
              <a:tblGrid>
                <a:gridCol w="627480"/>
                <a:gridCol w="627480"/>
                <a:gridCol w="627840"/>
              </a:tblGrid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x1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EB0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x2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EB0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t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EB00B"/>
                    </a:solidFill>
                  </a:tcPr>
                </a:tc>
              </a:tr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</a:tr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</a:tr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</a:tr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5" name="Table 3"/>
          <p:cNvGraphicFramePr/>
          <p:nvPr/>
        </p:nvGraphicFramePr>
        <p:xfrm>
          <a:off x="5136840" y="3496320"/>
          <a:ext cx="1882800" cy="2433600"/>
        </p:xfrm>
        <a:graphic>
          <a:graphicData uri="http://schemas.openxmlformats.org/drawingml/2006/table">
            <a:tbl>
              <a:tblPr/>
              <a:tblGrid>
                <a:gridCol w="627480"/>
                <a:gridCol w="627480"/>
                <a:gridCol w="627840"/>
              </a:tblGrid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x1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EB0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x2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EB0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1" strike="noStrike" spc="-1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t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EB00B"/>
                    </a:solidFill>
                  </a:tcPr>
                </a:tc>
              </a:tr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</a:tr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</a:tr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8E3CC"/>
                    </a:solidFill>
                  </a:tcPr>
                </a:tc>
              </a:tr>
              <a:tr h="48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1800" b="0" strike="noStrike" spc="-1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-1</a:t>
                      </a:r>
                      <a:endParaRPr lang="pt-BR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F1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1068480" y="360000"/>
            <a:ext cx="7714440" cy="792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             Perceptrons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360000" y="1748160"/>
            <a:ext cx="8207280" cy="48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2) Aplicações em problemas linearmente separáveis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168" name="CustomShape 3"/>
          <p:cNvSpPr/>
          <p:nvPr/>
        </p:nvSpPr>
        <p:spPr>
          <a:xfrm>
            <a:off x="2160000" y="338400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4"/>
          <p:cNvSpPr/>
          <p:nvPr/>
        </p:nvSpPr>
        <p:spPr>
          <a:xfrm>
            <a:off x="3600000" y="309600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5"/>
          <p:cNvSpPr/>
          <p:nvPr/>
        </p:nvSpPr>
        <p:spPr>
          <a:xfrm>
            <a:off x="2160360" y="338436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1" name="CustomShape 6"/>
          <p:cNvSpPr/>
          <p:nvPr/>
        </p:nvSpPr>
        <p:spPr>
          <a:xfrm>
            <a:off x="2556720" y="3996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2" name="CustomShape 7"/>
          <p:cNvSpPr/>
          <p:nvPr/>
        </p:nvSpPr>
        <p:spPr>
          <a:xfrm>
            <a:off x="3348720" y="4716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CustomShape 8"/>
          <p:cNvSpPr/>
          <p:nvPr/>
        </p:nvSpPr>
        <p:spPr>
          <a:xfrm>
            <a:off x="3204720" y="3708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9"/>
          <p:cNvSpPr/>
          <p:nvPr/>
        </p:nvSpPr>
        <p:spPr>
          <a:xfrm>
            <a:off x="2160720" y="3384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10"/>
          <p:cNvSpPr/>
          <p:nvPr/>
        </p:nvSpPr>
        <p:spPr>
          <a:xfrm>
            <a:off x="2160720" y="3384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11"/>
          <p:cNvSpPr/>
          <p:nvPr/>
        </p:nvSpPr>
        <p:spPr>
          <a:xfrm>
            <a:off x="4248720" y="3564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12"/>
          <p:cNvSpPr/>
          <p:nvPr/>
        </p:nvSpPr>
        <p:spPr>
          <a:xfrm>
            <a:off x="5328720" y="381672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CustomShape 13"/>
          <p:cNvSpPr/>
          <p:nvPr/>
        </p:nvSpPr>
        <p:spPr>
          <a:xfrm>
            <a:off x="2160720" y="3384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9" name="CustomShape 14"/>
          <p:cNvSpPr/>
          <p:nvPr/>
        </p:nvSpPr>
        <p:spPr>
          <a:xfrm>
            <a:off x="5257080" y="4429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CustomShape 15"/>
          <p:cNvSpPr/>
          <p:nvPr/>
        </p:nvSpPr>
        <p:spPr>
          <a:xfrm>
            <a:off x="5329080" y="3817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1" name="CustomShape 16"/>
          <p:cNvSpPr/>
          <p:nvPr/>
        </p:nvSpPr>
        <p:spPr>
          <a:xfrm>
            <a:off x="4573080" y="5545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2" name="CustomShape 17"/>
          <p:cNvSpPr/>
          <p:nvPr/>
        </p:nvSpPr>
        <p:spPr>
          <a:xfrm>
            <a:off x="6337080" y="5401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3" name="CustomShape 18"/>
          <p:cNvSpPr/>
          <p:nvPr/>
        </p:nvSpPr>
        <p:spPr>
          <a:xfrm>
            <a:off x="5905080" y="4285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4" name="CustomShape 19"/>
          <p:cNvSpPr/>
          <p:nvPr/>
        </p:nvSpPr>
        <p:spPr>
          <a:xfrm>
            <a:off x="5329080" y="5185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5" name="Line 20"/>
          <p:cNvSpPr/>
          <p:nvPr/>
        </p:nvSpPr>
        <p:spPr>
          <a:xfrm flipV="1">
            <a:off x="3600000" y="2520000"/>
            <a:ext cx="1944000" cy="3528000"/>
          </a:xfrm>
          <a:prstGeom prst="line">
            <a:avLst/>
          </a:prstGeom>
          <a:ln w="0">
            <a:solidFill>
              <a:srgbClr val="FF6D6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1068480" y="360000"/>
            <a:ext cx="7714440" cy="792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             Perceptrons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432000" y="1748160"/>
            <a:ext cx="8423280" cy="48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3) Não resolve problemas não-linearmente separáveis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188" name="CustomShape 3"/>
          <p:cNvSpPr/>
          <p:nvPr/>
        </p:nvSpPr>
        <p:spPr>
          <a:xfrm>
            <a:off x="2160000" y="338400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9" name="CustomShape 4"/>
          <p:cNvSpPr/>
          <p:nvPr/>
        </p:nvSpPr>
        <p:spPr>
          <a:xfrm>
            <a:off x="3600000" y="309600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CustomShape 5"/>
          <p:cNvSpPr/>
          <p:nvPr/>
        </p:nvSpPr>
        <p:spPr>
          <a:xfrm>
            <a:off x="2160360" y="338436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1" name="CustomShape 6"/>
          <p:cNvSpPr/>
          <p:nvPr/>
        </p:nvSpPr>
        <p:spPr>
          <a:xfrm>
            <a:off x="2556720" y="3996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2" name="CustomShape 7"/>
          <p:cNvSpPr/>
          <p:nvPr/>
        </p:nvSpPr>
        <p:spPr>
          <a:xfrm>
            <a:off x="3348720" y="4716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3" name="CustomShape 8"/>
          <p:cNvSpPr/>
          <p:nvPr/>
        </p:nvSpPr>
        <p:spPr>
          <a:xfrm>
            <a:off x="3204720" y="3708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CustomShape 9"/>
          <p:cNvSpPr/>
          <p:nvPr/>
        </p:nvSpPr>
        <p:spPr>
          <a:xfrm>
            <a:off x="2160720" y="3384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10"/>
          <p:cNvSpPr/>
          <p:nvPr/>
        </p:nvSpPr>
        <p:spPr>
          <a:xfrm>
            <a:off x="2160720" y="3384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11"/>
          <p:cNvSpPr/>
          <p:nvPr/>
        </p:nvSpPr>
        <p:spPr>
          <a:xfrm>
            <a:off x="4248720" y="3564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CustomShape 12"/>
          <p:cNvSpPr/>
          <p:nvPr/>
        </p:nvSpPr>
        <p:spPr>
          <a:xfrm>
            <a:off x="5328720" y="381672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8" name="CustomShape 13"/>
          <p:cNvSpPr/>
          <p:nvPr/>
        </p:nvSpPr>
        <p:spPr>
          <a:xfrm>
            <a:off x="2160720" y="3384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9" name="CustomShape 14"/>
          <p:cNvSpPr/>
          <p:nvPr/>
        </p:nvSpPr>
        <p:spPr>
          <a:xfrm>
            <a:off x="5257080" y="4429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0" name="CustomShape 15"/>
          <p:cNvSpPr/>
          <p:nvPr/>
        </p:nvSpPr>
        <p:spPr>
          <a:xfrm>
            <a:off x="4969080" y="3673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1" name="CustomShape 16"/>
          <p:cNvSpPr/>
          <p:nvPr/>
        </p:nvSpPr>
        <p:spPr>
          <a:xfrm>
            <a:off x="4573080" y="5545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2" name="CustomShape 17"/>
          <p:cNvSpPr/>
          <p:nvPr/>
        </p:nvSpPr>
        <p:spPr>
          <a:xfrm>
            <a:off x="6337080" y="5401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3" name="CustomShape 18"/>
          <p:cNvSpPr/>
          <p:nvPr/>
        </p:nvSpPr>
        <p:spPr>
          <a:xfrm>
            <a:off x="5905080" y="4285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4" name="CustomShape 19"/>
          <p:cNvSpPr/>
          <p:nvPr/>
        </p:nvSpPr>
        <p:spPr>
          <a:xfrm>
            <a:off x="5329080" y="5185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5" name="CustomShape 20"/>
          <p:cNvSpPr/>
          <p:nvPr/>
        </p:nvSpPr>
        <p:spPr>
          <a:xfrm>
            <a:off x="4032360" y="432000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6" name="CustomShape 21"/>
          <p:cNvSpPr/>
          <p:nvPr/>
        </p:nvSpPr>
        <p:spPr>
          <a:xfrm>
            <a:off x="4536360" y="403236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7" name="CustomShape 22"/>
          <p:cNvSpPr/>
          <p:nvPr/>
        </p:nvSpPr>
        <p:spPr>
          <a:xfrm>
            <a:off x="5904000" y="331236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8" name="CustomShape 23"/>
          <p:cNvSpPr/>
          <p:nvPr/>
        </p:nvSpPr>
        <p:spPr>
          <a:xfrm>
            <a:off x="4645080" y="493308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1068480" y="360000"/>
            <a:ext cx="7714440" cy="792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             Perceptrons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504000" y="1748160"/>
            <a:ext cx="8351280" cy="48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4) Um problema não-linearmente </a:t>
            </a: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   separável: OU-EXCLUSIVO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211" name="CustomShape 3"/>
          <p:cNvSpPr/>
          <p:nvPr/>
        </p:nvSpPr>
        <p:spPr>
          <a:xfrm>
            <a:off x="4752360" y="518400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4"/>
          <p:cNvSpPr/>
          <p:nvPr/>
        </p:nvSpPr>
        <p:spPr>
          <a:xfrm>
            <a:off x="3240000" y="518436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CustomShape 5"/>
          <p:cNvSpPr/>
          <p:nvPr/>
        </p:nvSpPr>
        <p:spPr>
          <a:xfrm>
            <a:off x="3168720" y="3816720"/>
            <a:ext cx="142920" cy="1429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6"/>
          <p:cNvSpPr/>
          <p:nvPr/>
        </p:nvSpPr>
        <p:spPr>
          <a:xfrm>
            <a:off x="4680360" y="3888360"/>
            <a:ext cx="142920" cy="142920"/>
          </a:xfrm>
          <a:prstGeom prst="ellipse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Line 7"/>
          <p:cNvSpPr/>
          <p:nvPr/>
        </p:nvSpPr>
        <p:spPr>
          <a:xfrm flipV="1">
            <a:off x="4104000" y="3168000"/>
            <a:ext cx="0" cy="288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Line 8"/>
          <p:cNvSpPr/>
          <p:nvPr/>
        </p:nvSpPr>
        <p:spPr>
          <a:xfrm>
            <a:off x="2268000" y="4644000"/>
            <a:ext cx="3960000" cy="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CustomShape 9"/>
          <p:cNvSpPr/>
          <p:nvPr/>
        </p:nvSpPr>
        <p:spPr>
          <a:xfrm>
            <a:off x="3708000" y="3060000"/>
            <a:ext cx="40536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lang="pt-BR" sz="1800" b="0" i="1" strike="noStrike" spc="-1" baseline="-800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18" name="CustomShape 10"/>
          <p:cNvSpPr/>
          <p:nvPr/>
        </p:nvSpPr>
        <p:spPr>
          <a:xfrm>
            <a:off x="5940000" y="4644000"/>
            <a:ext cx="405360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r>
              <a:rPr lang="pt-BR" sz="1800" b="0" i="1" strike="noStrike" spc="-1" baseline="-800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432000" y="790920"/>
            <a:ext cx="8436240" cy="49687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             Perceptrons </a:t>
            </a: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5) Perceptron resolve problemas linearmente separáveis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y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liquido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= w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1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1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+ w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2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2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+b</a:t>
            </a: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y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liquido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= 0  </a:t>
            </a:r>
            <a:r>
              <a:rPr lang="en-US" sz="20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(fronteira entre a saída positiva e saída negativa)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w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1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1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+ w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2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2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+b = 0</a:t>
            </a: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2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= -(w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1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1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+ b)/w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2 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20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(fronteira linear)</a:t>
            </a: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6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Dois pontos:</a:t>
            </a:r>
            <a:endParaRPr lang="pt-BR" sz="2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2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= 0   =&gt;  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1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= - b/w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1</a:t>
            </a:r>
            <a:endParaRPr lang="pt-BR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1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= 0   =&gt;  x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2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= - b/w</a:t>
            </a:r>
            <a:r>
              <a:rPr lang="en-US" sz="2800" b="0" strike="noStrike" spc="-1" baseline="-25000">
                <a:solidFill>
                  <a:srgbClr val="FFCC66"/>
                </a:solidFill>
                <a:latin typeface="Times New Roman"/>
                <a:ea typeface="DejaVu Sans"/>
              </a:rPr>
              <a:t>2</a:t>
            </a:r>
            <a:endParaRPr lang="pt-BR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327240" y="-78480"/>
            <a:ext cx="8670600" cy="5115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         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Trabalho</a:t>
            </a:r>
            <a:r>
              <a:rPr lang="en-US" sz="2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2800" b="0" strike="noStrike" spc="-1" smtClean="0">
                <a:solidFill>
                  <a:srgbClr val="FFCC66"/>
                </a:solidFill>
                <a:latin typeface="Times New Roman"/>
                <a:ea typeface="DejaVu Sans"/>
              </a:rPr>
              <a:t>03 </a:t>
            </a: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- 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Recohecimento</a:t>
            </a:r>
            <a:r>
              <a:rPr lang="en-US" sz="28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de </a:t>
            </a:r>
            <a:r>
              <a:rPr lang="en-US" sz="28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letras</a:t>
            </a: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800" b="0" strike="noStrike" spc="-1" dirty="0">
              <a:latin typeface="Arial"/>
            </a:endParaRPr>
          </a:p>
        </p:txBody>
      </p:sp>
      <p:pic>
        <p:nvPicPr>
          <p:cNvPr id="221" name="Imagem 220"/>
          <p:cNvPicPr/>
          <p:nvPr/>
        </p:nvPicPr>
        <p:blipFill>
          <a:blip r:embed="rId2"/>
          <a:stretch/>
        </p:blipFill>
        <p:spPr>
          <a:xfrm>
            <a:off x="1368000" y="1563840"/>
            <a:ext cx="6334560" cy="2250720"/>
          </a:xfrm>
          <a:prstGeom prst="rect">
            <a:avLst/>
          </a:prstGeom>
          <a:ln w="0">
            <a:noFill/>
          </a:ln>
        </p:spPr>
      </p:pic>
      <p:sp>
        <p:nvSpPr>
          <p:cNvPr id="222" name="CustomShape 2"/>
          <p:cNvSpPr/>
          <p:nvPr/>
        </p:nvSpPr>
        <p:spPr>
          <a:xfrm>
            <a:off x="1404000" y="5832000"/>
            <a:ext cx="429840" cy="429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3" name="CustomShape 3"/>
          <p:cNvSpPr/>
          <p:nvPr/>
        </p:nvSpPr>
        <p:spPr>
          <a:xfrm>
            <a:off x="6336000" y="5616000"/>
            <a:ext cx="429840" cy="429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4" name="CustomShape 4"/>
          <p:cNvSpPr/>
          <p:nvPr/>
        </p:nvSpPr>
        <p:spPr>
          <a:xfrm>
            <a:off x="6336000" y="4968000"/>
            <a:ext cx="429840" cy="4298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5" name="Line 5"/>
          <p:cNvSpPr/>
          <p:nvPr/>
        </p:nvSpPr>
        <p:spPr>
          <a:xfrm>
            <a:off x="1836000" y="6048000"/>
            <a:ext cx="4320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Line 6"/>
          <p:cNvSpPr/>
          <p:nvPr/>
        </p:nvSpPr>
        <p:spPr>
          <a:xfrm>
            <a:off x="540000" y="5472000"/>
            <a:ext cx="936000" cy="432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7" name="Line 7"/>
          <p:cNvSpPr/>
          <p:nvPr/>
        </p:nvSpPr>
        <p:spPr>
          <a:xfrm flipV="1">
            <a:off x="540000" y="6192000"/>
            <a:ext cx="936000" cy="288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8" name="Line 8"/>
          <p:cNvSpPr/>
          <p:nvPr/>
        </p:nvSpPr>
        <p:spPr>
          <a:xfrm>
            <a:off x="1620000" y="5256000"/>
            <a:ext cx="0" cy="576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9" name="Line 9"/>
          <p:cNvSpPr/>
          <p:nvPr/>
        </p:nvSpPr>
        <p:spPr>
          <a:xfrm>
            <a:off x="4752000" y="4968000"/>
            <a:ext cx="1584000" cy="216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0" name="Line 10"/>
          <p:cNvSpPr/>
          <p:nvPr/>
        </p:nvSpPr>
        <p:spPr>
          <a:xfrm flipV="1">
            <a:off x="4824000" y="5832000"/>
            <a:ext cx="1512000" cy="576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1" name="Line 11"/>
          <p:cNvSpPr/>
          <p:nvPr/>
        </p:nvSpPr>
        <p:spPr>
          <a:xfrm>
            <a:off x="6768000" y="5184000"/>
            <a:ext cx="5040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Line 12"/>
          <p:cNvSpPr/>
          <p:nvPr/>
        </p:nvSpPr>
        <p:spPr>
          <a:xfrm>
            <a:off x="6768000" y="5832000"/>
            <a:ext cx="5040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3" name="Line 13"/>
          <p:cNvSpPr/>
          <p:nvPr/>
        </p:nvSpPr>
        <p:spPr>
          <a:xfrm flipV="1">
            <a:off x="6552000" y="6048000"/>
            <a:ext cx="0" cy="504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4" name="Line 14"/>
          <p:cNvSpPr/>
          <p:nvPr/>
        </p:nvSpPr>
        <p:spPr>
          <a:xfrm>
            <a:off x="6552000" y="4536000"/>
            <a:ext cx="0" cy="432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Line 15"/>
          <p:cNvSpPr/>
          <p:nvPr/>
        </p:nvSpPr>
        <p:spPr>
          <a:xfrm flipV="1">
            <a:off x="4824000" y="5328000"/>
            <a:ext cx="1584000" cy="1080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Line 16"/>
          <p:cNvSpPr/>
          <p:nvPr/>
        </p:nvSpPr>
        <p:spPr>
          <a:xfrm>
            <a:off x="4752000" y="4968000"/>
            <a:ext cx="1656000" cy="720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7" name="CustomShape 17"/>
          <p:cNvSpPr/>
          <p:nvPr/>
        </p:nvSpPr>
        <p:spPr>
          <a:xfrm>
            <a:off x="216000" y="5292000"/>
            <a:ext cx="4194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38" name="CustomShape 18"/>
          <p:cNvSpPr/>
          <p:nvPr/>
        </p:nvSpPr>
        <p:spPr>
          <a:xfrm>
            <a:off x="154440" y="6336000"/>
            <a:ext cx="4194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n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39" name="CustomShape 19"/>
          <p:cNvSpPr/>
          <p:nvPr/>
        </p:nvSpPr>
        <p:spPr>
          <a:xfrm>
            <a:off x="4438440" y="4765680"/>
            <a:ext cx="4194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0" name="CustomShape 20"/>
          <p:cNvSpPr/>
          <p:nvPr/>
        </p:nvSpPr>
        <p:spPr>
          <a:xfrm>
            <a:off x="4500360" y="6156000"/>
            <a:ext cx="4194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n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1" name="CustomShape 21"/>
          <p:cNvSpPr/>
          <p:nvPr/>
        </p:nvSpPr>
        <p:spPr>
          <a:xfrm>
            <a:off x="1404000" y="496800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2" name="CustomShape 22"/>
          <p:cNvSpPr/>
          <p:nvPr/>
        </p:nvSpPr>
        <p:spPr>
          <a:xfrm>
            <a:off x="828000" y="5341680"/>
            <a:ext cx="4698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3" name="CustomShape 23"/>
          <p:cNvSpPr/>
          <p:nvPr/>
        </p:nvSpPr>
        <p:spPr>
          <a:xfrm>
            <a:off x="766440" y="6048000"/>
            <a:ext cx="4698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n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4" name="CustomShape 24"/>
          <p:cNvSpPr/>
          <p:nvPr/>
        </p:nvSpPr>
        <p:spPr>
          <a:xfrm>
            <a:off x="2206440" y="5593680"/>
            <a:ext cx="1751400" cy="85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1, se X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y =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-1, se T</a:t>
            </a: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5" name="CustomShape 25"/>
          <p:cNvSpPr/>
          <p:nvPr/>
        </p:nvSpPr>
        <p:spPr>
          <a:xfrm>
            <a:off x="6324840" y="426168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6" name="CustomShape 26"/>
          <p:cNvSpPr/>
          <p:nvPr/>
        </p:nvSpPr>
        <p:spPr>
          <a:xfrm>
            <a:off x="6336000" y="648000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7" name="CustomShape 27"/>
          <p:cNvSpPr/>
          <p:nvPr/>
        </p:nvSpPr>
        <p:spPr>
          <a:xfrm>
            <a:off x="7272000" y="4464000"/>
            <a:ext cx="1725840" cy="208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      T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y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=   1     -1  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8" name="CustomShape 28"/>
          <p:cNvSpPr/>
          <p:nvPr/>
        </p:nvSpPr>
        <p:spPr>
          <a:xfrm>
            <a:off x="7272000" y="5629680"/>
            <a:ext cx="1653840" cy="60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y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 =  -1      1 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49" name="CustomShape 29"/>
          <p:cNvSpPr/>
          <p:nvPr/>
        </p:nvSpPr>
        <p:spPr>
          <a:xfrm>
            <a:off x="1620000" y="5268960"/>
            <a:ext cx="30492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b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0" name="CustomShape 30"/>
          <p:cNvSpPr/>
          <p:nvPr/>
        </p:nvSpPr>
        <p:spPr>
          <a:xfrm>
            <a:off x="6532920" y="4477680"/>
            <a:ext cx="664920" cy="60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b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1" name="CustomShape 31"/>
          <p:cNvSpPr/>
          <p:nvPr/>
        </p:nvSpPr>
        <p:spPr>
          <a:xfrm>
            <a:off x="6532920" y="6255720"/>
            <a:ext cx="664920" cy="60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b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2" name="CustomShape 32"/>
          <p:cNvSpPr/>
          <p:nvPr/>
        </p:nvSpPr>
        <p:spPr>
          <a:xfrm>
            <a:off x="180000" y="5760000"/>
            <a:ext cx="5018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...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3" name="CustomShape 33"/>
          <p:cNvSpPr/>
          <p:nvPr/>
        </p:nvSpPr>
        <p:spPr>
          <a:xfrm>
            <a:off x="4536000" y="5121720"/>
            <a:ext cx="214560" cy="85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.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4" name="CustomShape 34"/>
          <p:cNvSpPr/>
          <p:nvPr/>
        </p:nvSpPr>
        <p:spPr>
          <a:xfrm>
            <a:off x="144000" y="4608720"/>
            <a:ext cx="17258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a) 1 neurônio: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5" name="CustomShape 35"/>
          <p:cNvSpPr/>
          <p:nvPr/>
        </p:nvSpPr>
        <p:spPr>
          <a:xfrm>
            <a:off x="4176000" y="4392000"/>
            <a:ext cx="1725840" cy="50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b) 2 neurônios: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6" name="CustomShape 36"/>
          <p:cNvSpPr/>
          <p:nvPr/>
        </p:nvSpPr>
        <p:spPr>
          <a:xfrm>
            <a:off x="1404000" y="496800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7" name="CustomShape 37"/>
          <p:cNvSpPr/>
          <p:nvPr/>
        </p:nvSpPr>
        <p:spPr>
          <a:xfrm>
            <a:off x="1404000" y="496800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8" name="CustomShape 38"/>
          <p:cNvSpPr/>
          <p:nvPr/>
        </p:nvSpPr>
        <p:spPr>
          <a:xfrm>
            <a:off x="1404000" y="496800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59" name="CustomShape 39"/>
          <p:cNvSpPr/>
          <p:nvPr/>
        </p:nvSpPr>
        <p:spPr>
          <a:xfrm>
            <a:off x="6336000" y="501840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60" name="CustomShape 40"/>
          <p:cNvSpPr/>
          <p:nvPr/>
        </p:nvSpPr>
        <p:spPr>
          <a:xfrm>
            <a:off x="6336000" y="5652000"/>
            <a:ext cx="36900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61" name="CustomShape 41"/>
          <p:cNvSpPr/>
          <p:nvPr/>
        </p:nvSpPr>
        <p:spPr>
          <a:xfrm>
            <a:off x="5328000" y="476568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62" name="CustomShape 42"/>
          <p:cNvSpPr/>
          <p:nvPr/>
        </p:nvSpPr>
        <p:spPr>
          <a:xfrm>
            <a:off x="5328000" y="501768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12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63" name="CustomShape 43"/>
          <p:cNvSpPr/>
          <p:nvPr/>
        </p:nvSpPr>
        <p:spPr>
          <a:xfrm>
            <a:off x="5328000" y="548568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n1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264" name="CustomShape 44"/>
          <p:cNvSpPr/>
          <p:nvPr/>
        </p:nvSpPr>
        <p:spPr>
          <a:xfrm>
            <a:off x="5328000" y="6061680"/>
            <a:ext cx="574560" cy="34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800" b="0" strike="noStrike" spc="-1" baseline="-8000">
                <a:solidFill>
                  <a:srgbClr val="FFFFFF"/>
                </a:solidFill>
                <a:latin typeface="Arial"/>
                <a:ea typeface="DejaVu Sans"/>
              </a:rPr>
              <a:t>12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6E0D263096AE543989EDC63A5F204DE" ma:contentTypeVersion="3" ma:contentTypeDescription="Crie um novo documento." ma:contentTypeScope="" ma:versionID="6b46a758bcee6fc954b4405472999535">
  <xsd:schema xmlns:xsd="http://www.w3.org/2001/XMLSchema" xmlns:xs="http://www.w3.org/2001/XMLSchema" xmlns:p="http://schemas.microsoft.com/office/2006/metadata/properties" xmlns:ns2="f86bb142-cfc2-49f8-a6a3-1f1ebe9ac78f" targetNamespace="http://schemas.microsoft.com/office/2006/metadata/properties" ma:root="true" ma:fieldsID="bbfb16fa2ba3bfa7298bbbbbdbccf4e8" ns2:_="">
    <xsd:import namespace="f86bb142-cfc2-49f8-a6a3-1f1ebe9ac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6bb142-cfc2-49f8-a6a3-1f1ebe9ac7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5C1FD0-C7EB-43C4-806F-0B5B852565FF}"/>
</file>

<file path=customXml/itemProps2.xml><?xml version="1.0" encoding="utf-8"?>
<ds:datastoreItem xmlns:ds="http://schemas.openxmlformats.org/officeDocument/2006/customXml" ds:itemID="{E64A1F7D-2B76-4B1C-94A4-4583F81EDBF4}"/>
</file>

<file path=customXml/itemProps3.xml><?xml version="1.0" encoding="utf-8"?>
<ds:datastoreItem xmlns:ds="http://schemas.openxmlformats.org/officeDocument/2006/customXml" ds:itemID="{4F01CD35-55BF-4D69-A048-424DCE99F322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apresentação\Chave e fechadura.pot</Template>
  <TotalTime>1017</TotalTime>
  <Words>313</Words>
  <Application>Microsoft Office PowerPoint</Application>
  <PresentationFormat>Apresentação na tela (4:3)</PresentationFormat>
  <Paragraphs>164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Keiji</dc:creator>
  <dc:description/>
  <cp:lastModifiedBy>Keiji</cp:lastModifiedBy>
  <cp:revision>302</cp:revision>
  <dcterms:created xsi:type="dcterms:W3CDTF">1601-01-01T00:00:00Z</dcterms:created>
  <dcterms:modified xsi:type="dcterms:W3CDTF">2025-08-28T14:40:16Z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7</vt:i4>
  </property>
  <property fmtid="{D5CDD505-2E9C-101B-9397-08002B2CF9AE}" pid="12" name="ContentTypeId">
    <vt:lpwstr>0x010100B6E0D263096AE543989EDC63A5F204DE</vt:lpwstr>
  </property>
</Properties>
</file>