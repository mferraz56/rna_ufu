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6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00B5B"/>
            </a:gs>
            <a:gs pos="50000">
              <a:srgbClr val="6600FF"/>
            </a:gs>
            <a:gs pos="100000">
              <a:srgbClr val="200B5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38680" cy="6853680"/>
          </a:xfrm>
          <a:prstGeom prst="rect">
            <a:avLst/>
          </a:prstGeom>
          <a:ln w="12600">
            <a:noFill/>
          </a:ln>
        </p:spPr>
      </p:pic>
      <p:pic>
        <p:nvPicPr>
          <p:cNvPr id="5" name="Picture 1036"/>
          <p:cNvPicPr/>
          <p:nvPr/>
        </p:nvPicPr>
        <p:blipFill>
          <a:blip r:embed="rId14"/>
          <a:stretch/>
        </p:blipFill>
        <p:spPr>
          <a:xfrm>
            <a:off x="0" y="0"/>
            <a:ext cx="1367280" cy="6853680"/>
          </a:xfrm>
          <a:prstGeom prst="rect">
            <a:avLst/>
          </a:prstGeom>
          <a:ln w="1260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FF"/>
            </a:gs>
            <a:gs pos="100000">
              <a:srgbClr val="200B5B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39040" cy="6854040"/>
          </a:xfrm>
          <a:prstGeom prst="rect">
            <a:avLst/>
          </a:prstGeom>
          <a:ln w="1260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6600FF"/>
            </a:gs>
            <a:gs pos="100000">
              <a:srgbClr val="200B5B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9"/>
          <p:cNvPicPr/>
          <p:nvPr/>
        </p:nvPicPr>
        <p:blipFill>
          <a:blip r:embed="rId14"/>
          <a:stretch/>
        </p:blipFill>
        <p:spPr>
          <a:xfrm>
            <a:off x="0" y="0"/>
            <a:ext cx="1138680" cy="6853680"/>
          </a:xfrm>
          <a:prstGeom prst="rect">
            <a:avLst/>
          </a:prstGeom>
          <a:ln w="1260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10" Type="http://schemas.openxmlformats.org/officeDocument/2006/relationships/image" Target="../media/image16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1523880" y="1009800"/>
            <a:ext cx="7310880" cy="2111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   </a:t>
            </a:r>
            <a:r>
              <a:rPr lang="en-US" sz="48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Redes   Neurais Artificiais</a:t>
            </a:r>
            <a:endParaRPr lang="pt-BR" sz="4800" b="0" strike="noStrike" spc="-1"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1523880" y="2666880"/>
            <a:ext cx="7005960" cy="3729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</a:t>
            </a:r>
            <a:endParaRPr lang="pt-BR" sz="3200" b="0" strike="noStrike" spc="-1" dirty="0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41"/>
              </a:spcBef>
            </a:pPr>
            <a:endParaRPr lang="pt-BR" sz="3200" b="0" strike="noStrike" spc="-1" dirty="0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41"/>
              </a:spcBef>
            </a:pPr>
            <a:r>
              <a:rPr lang="en-US" sz="3200" b="0" strike="noStrike" spc="-1" dirty="0" smtClean="0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r>
              <a:rPr lang="en-US" sz="32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Adaline – 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Adaptive linear neuron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641"/>
              </a:spcBef>
            </a:pP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               Prof.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Keiji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Yamanaka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            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Faculdade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de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Engenharia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EAEAEA"/>
                </a:solidFill>
                <a:latin typeface="Times New Roman"/>
                <a:ea typeface="DejaVu Sans"/>
              </a:rPr>
              <a:t>Elétrica</a:t>
            </a: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 – UFU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400" b="0" strike="noStrike" spc="-1" dirty="0">
                <a:solidFill>
                  <a:srgbClr val="EAEAEA"/>
                </a:solidFill>
                <a:latin typeface="Times New Roman"/>
                <a:ea typeface="DejaVu Sans"/>
              </a:rPr>
              <a:t>			</a:t>
            </a:r>
            <a:endParaRPr lang="pt-BR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1114920" y="417240"/>
            <a:ext cx="8022960" cy="10051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 Adaline – Adaptive linear neuron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3042000" y="3018240"/>
            <a:ext cx="913320" cy="803160"/>
          </a:xfrm>
          <a:prstGeom prst="ellips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CustomShape 3"/>
          <p:cNvSpPr/>
          <p:nvPr/>
        </p:nvSpPr>
        <p:spPr>
          <a:xfrm>
            <a:off x="3655440" y="3427920"/>
            <a:ext cx="582480" cy="4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EAF0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3" name="CustomShape 4"/>
          <p:cNvSpPr/>
          <p:nvPr/>
        </p:nvSpPr>
        <p:spPr>
          <a:xfrm>
            <a:off x="3338280" y="2219760"/>
            <a:ext cx="23400" cy="802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EAF0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CustomShape 5"/>
          <p:cNvSpPr/>
          <p:nvPr/>
        </p:nvSpPr>
        <p:spPr>
          <a:xfrm>
            <a:off x="2239200" y="2628360"/>
            <a:ext cx="831960" cy="608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EAF0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CustomShape 6"/>
          <p:cNvSpPr/>
          <p:nvPr/>
        </p:nvSpPr>
        <p:spPr>
          <a:xfrm flipV="1">
            <a:off x="2157840" y="3670200"/>
            <a:ext cx="1008720" cy="621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EAF0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6" name="CustomShape 7"/>
          <p:cNvSpPr/>
          <p:nvPr/>
        </p:nvSpPr>
        <p:spPr>
          <a:xfrm>
            <a:off x="1806480" y="2338200"/>
            <a:ext cx="63756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27" name="CustomShape 8"/>
          <p:cNvSpPr/>
          <p:nvPr/>
        </p:nvSpPr>
        <p:spPr>
          <a:xfrm>
            <a:off x="1785240" y="4179960"/>
            <a:ext cx="63756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n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28" name="CustomShape 9"/>
          <p:cNvSpPr/>
          <p:nvPr/>
        </p:nvSpPr>
        <p:spPr>
          <a:xfrm>
            <a:off x="3013560" y="1812960"/>
            <a:ext cx="637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   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29" name="CustomShape 10"/>
          <p:cNvSpPr/>
          <p:nvPr/>
        </p:nvSpPr>
        <p:spPr>
          <a:xfrm>
            <a:off x="1727640" y="2520000"/>
            <a:ext cx="6375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600" b="0" strike="noStrike" spc="-1">
                <a:solidFill>
                  <a:srgbClr val="FFFFFF"/>
                </a:solidFill>
                <a:latin typeface="Arial"/>
                <a:ea typeface="DejaVu Sans"/>
              </a:rPr>
              <a:t>...</a:t>
            </a:r>
            <a:endParaRPr lang="pt-BR" sz="3600" b="0" strike="noStrike" spc="-1">
              <a:latin typeface="Arial"/>
            </a:endParaRPr>
          </a:p>
        </p:txBody>
      </p:sp>
      <p:sp>
        <p:nvSpPr>
          <p:cNvPr id="130" name="CustomShape 11"/>
          <p:cNvSpPr/>
          <p:nvPr/>
        </p:nvSpPr>
        <p:spPr>
          <a:xfrm>
            <a:off x="3381840" y="2417040"/>
            <a:ext cx="6375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b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31" name="CustomShape 12"/>
          <p:cNvSpPr/>
          <p:nvPr/>
        </p:nvSpPr>
        <p:spPr>
          <a:xfrm>
            <a:off x="2628720" y="2579400"/>
            <a:ext cx="63756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32" name="CustomShape 13"/>
          <p:cNvSpPr/>
          <p:nvPr/>
        </p:nvSpPr>
        <p:spPr>
          <a:xfrm>
            <a:off x="2340000" y="3630600"/>
            <a:ext cx="63756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n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33" name="CustomShape 14"/>
          <p:cNvSpPr/>
          <p:nvPr/>
        </p:nvSpPr>
        <p:spPr>
          <a:xfrm>
            <a:off x="4490640" y="3103200"/>
            <a:ext cx="4707360" cy="80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y = y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liquido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= w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+w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+ … +w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i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i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+ </a:t>
            </a:r>
            <a:r>
              <a:rPr lang="pt-BR" sz="2800" b="0" strike="noStrike" spc="-1">
                <a:solidFill>
                  <a:srgbClr val="FFFFFF"/>
                </a:solidFill>
                <a:latin typeface="Arial"/>
                <a:ea typeface="DejaVu Sans"/>
              </a:rPr>
              <a:t>...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+ b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  <p:sp>
        <p:nvSpPr>
          <p:cNvPr id="134" name="CustomShape 15"/>
          <p:cNvSpPr/>
          <p:nvPr/>
        </p:nvSpPr>
        <p:spPr>
          <a:xfrm>
            <a:off x="4229640" y="3539160"/>
            <a:ext cx="716760" cy="35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5" name="CustomShape 16"/>
          <p:cNvSpPr/>
          <p:nvPr/>
        </p:nvSpPr>
        <p:spPr>
          <a:xfrm>
            <a:off x="4229640" y="3539160"/>
            <a:ext cx="69120" cy="1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CustomShape 17"/>
          <p:cNvSpPr/>
          <p:nvPr/>
        </p:nvSpPr>
        <p:spPr>
          <a:xfrm>
            <a:off x="3467880" y="3015000"/>
            <a:ext cx="26280" cy="8600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37" name="CustomShape 18"/>
          <p:cNvSpPr/>
          <p:nvPr/>
        </p:nvSpPr>
        <p:spPr>
          <a:xfrm flipH="1">
            <a:off x="3609360" y="3230640"/>
            <a:ext cx="169920" cy="342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pic>
        <p:nvPicPr>
          <p:cNvPr id="138" name="Imagem 6_2" descr="Uma imagem contendo desenho, texto&#10;&#10;Descrição gerada automaticamente"/>
          <p:cNvPicPr/>
          <p:nvPr/>
        </p:nvPicPr>
        <p:blipFill>
          <a:blip r:embed="rId2"/>
          <a:stretch/>
        </p:blipFill>
        <p:spPr>
          <a:xfrm>
            <a:off x="3156840" y="3251160"/>
            <a:ext cx="282960" cy="353520"/>
          </a:xfrm>
          <a:prstGeom prst="rect">
            <a:avLst/>
          </a:prstGeom>
          <a:ln w="0">
            <a:noFill/>
          </a:ln>
        </p:spPr>
      </p:pic>
      <p:sp>
        <p:nvSpPr>
          <p:cNvPr id="139" name="CustomShape 19"/>
          <p:cNvSpPr/>
          <p:nvPr/>
        </p:nvSpPr>
        <p:spPr>
          <a:xfrm>
            <a:off x="1368000" y="4870800"/>
            <a:ext cx="3972960" cy="99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CC66"/>
                </a:solidFill>
                <a:latin typeface="Arial"/>
                <a:ea typeface="DejaVu Sans"/>
              </a:rPr>
              <a:t> 1) entradas e saidas contínuas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CC66"/>
                </a:solidFill>
                <a:latin typeface="Arial"/>
                <a:ea typeface="DejaVu Sans"/>
              </a:rPr>
              <a:t> 2)  função de ativação: linear 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  <p:sp>
        <p:nvSpPr>
          <p:cNvPr id="140" name="CustomShape 20"/>
          <p:cNvSpPr/>
          <p:nvPr/>
        </p:nvSpPr>
        <p:spPr>
          <a:xfrm flipV="1">
            <a:off x="2160000" y="3445920"/>
            <a:ext cx="861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EEAF04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CustomShape 21"/>
          <p:cNvSpPr/>
          <p:nvPr/>
        </p:nvSpPr>
        <p:spPr>
          <a:xfrm>
            <a:off x="1785240" y="3207960"/>
            <a:ext cx="63756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x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i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42" name="CustomShape 22"/>
          <p:cNvSpPr/>
          <p:nvPr/>
        </p:nvSpPr>
        <p:spPr>
          <a:xfrm>
            <a:off x="2340000" y="3060000"/>
            <a:ext cx="637560" cy="40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w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i</a:t>
            </a:r>
            <a:endParaRPr lang="pt-BR" sz="1800" b="0" strike="noStrike" spc="-1">
              <a:latin typeface="Arial"/>
            </a:endParaRPr>
          </a:p>
        </p:txBody>
      </p:sp>
      <p:sp>
        <p:nvSpPr>
          <p:cNvPr id="143" name="CustomShape 23"/>
          <p:cNvSpPr/>
          <p:nvPr/>
        </p:nvSpPr>
        <p:spPr>
          <a:xfrm>
            <a:off x="1727640" y="3456000"/>
            <a:ext cx="63756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3600" b="0" strike="noStrike" spc="-1">
                <a:solidFill>
                  <a:srgbClr val="FFFFFF"/>
                </a:solidFill>
                <a:latin typeface="Arial"/>
                <a:ea typeface="DejaVu Sans"/>
              </a:rPr>
              <a:t>...</a:t>
            </a:r>
            <a:endParaRPr lang="pt-BR" sz="36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Adaline – Adaptive linear neuron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1696680" y="2333520"/>
            <a:ext cx="7443000" cy="447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Neurônio desenvolvido e implementado por Bernard Widrow e Ted Hoff(doutorando) na Stanford University – 1960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  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https://www.youtube.com/watch?v=hc2Zj55j1zU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46" name="Imagem 5_1" descr="ScreenHunter_546 Apr. 03 13.29.jpg"/>
          <p:cNvPicPr/>
          <p:nvPr/>
        </p:nvPicPr>
        <p:blipFill>
          <a:blip r:embed="rId2"/>
          <a:stretch/>
        </p:blipFill>
        <p:spPr>
          <a:xfrm>
            <a:off x="1428840" y="3786120"/>
            <a:ext cx="3491640" cy="1846800"/>
          </a:xfrm>
          <a:prstGeom prst="rect">
            <a:avLst/>
          </a:prstGeom>
          <a:ln w="0">
            <a:noFill/>
          </a:ln>
        </p:spPr>
      </p:pic>
      <p:pic>
        <p:nvPicPr>
          <p:cNvPr id="147" name="Imagem 6_1" descr="ScreenHunter_547 Apr. 03 13.29.jpg"/>
          <p:cNvPicPr/>
          <p:nvPr/>
        </p:nvPicPr>
        <p:blipFill>
          <a:blip r:embed="rId3"/>
          <a:stretch/>
        </p:blipFill>
        <p:spPr>
          <a:xfrm>
            <a:off x="5143680" y="3786120"/>
            <a:ext cx="3786480" cy="1860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Adaline – Adaptive linear neuron</a:t>
            </a:r>
            <a:endParaRPr lang="pt-BR" sz="4400" b="0" strike="noStrike" spc="-1">
              <a:latin typeface="Arial"/>
            </a:endParaRPr>
          </a:p>
        </p:txBody>
      </p:sp>
      <p:pic>
        <p:nvPicPr>
          <p:cNvPr id="149" name="Imagem 4_2" descr="ScreenHunter_557 Apr. 03 14.02.jpg"/>
          <p:cNvPicPr/>
          <p:nvPr/>
        </p:nvPicPr>
        <p:blipFill>
          <a:blip r:embed="rId2"/>
          <a:stretch/>
        </p:blipFill>
        <p:spPr>
          <a:xfrm>
            <a:off x="2000160" y="1928880"/>
            <a:ext cx="5927400" cy="4426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Adaline – Adaptive linear neuron</a:t>
            </a:r>
            <a:endParaRPr lang="pt-BR" sz="4400" b="0" strike="noStrike" spc="-1">
              <a:latin typeface="Arial"/>
            </a:endParaRPr>
          </a:p>
        </p:txBody>
      </p:sp>
      <p:pic>
        <p:nvPicPr>
          <p:cNvPr id="151" name="Imagem 7_0" descr="ScreenHunter_548 Apr. 03 13.32.jpg"/>
          <p:cNvPicPr/>
          <p:nvPr/>
        </p:nvPicPr>
        <p:blipFill>
          <a:blip r:embed="rId2"/>
          <a:stretch/>
        </p:blipFill>
        <p:spPr>
          <a:xfrm>
            <a:off x="1499760" y="1510920"/>
            <a:ext cx="7490160" cy="4903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Adaline – Adaptive linear neuron</a:t>
            </a:r>
            <a:endParaRPr lang="pt-BR" sz="4400" b="0" strike="noStrike" spc="-1">
              <a:latin typeface="Arial"/>
            </a:endParaRPr>
          </a:p>
        </p:txBody>
      </p:sp>
      <p:pic>
        <p:nvPicPr>
          <p:cNvPr id="153" name="Imagem 152"/>
          <p:cNvPicPr/>
          <p:nvPr/>
        </p:nvPicPr>
        <p:blipFill>
          <a:blip r:embed="rId2"/>
          <a:stretch/>
        </p:blipFill>
        <p:spPr>
          <a:xfrm>
            <a:off x="1656000" y="2520000"/>
            <a:ext cx="7185600" cy="4105440"/>
          </a:xfrm>
          <a:prstGeom prst="rect">
            <a:avLst/>
          </a:prstGeom>
          <a:ln w="0">
            <a:noFill/>
          </a:ln>
        </p:spPr>
      </p:pic>
      <p:sp>
        <p:nvSpPr>
          <p:cNvPr id="154" name="CustomShape 2"/>
          <p:cNvSpPr/>
          <p:nvPr/>
        </p:nvSpPr>
        <p:spPr>
          <a:xfrm>
            <a:off x="1656000" y="1800000"/>
            <a:ext cx="222876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- </a:t>
            </a:r>
            <a:r>
              <a:rPr lang="pt-BR" sz="2600" b="0" strike="noStrike" spc="-1">
                <a:solidFill>
                  <a:srgbClr val="FFFFFF"/>
                </a:solidFill>
                <a:latin typeface="Arial"/>
                <a:ea typeface="DejaVu Sans"/>
              </a:rPr>
              <a:t>Treinamento</a:t>
            </a:r>
            <a:r>
              <a:rPr lang="pt-BR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Adaline – Adaptive linear neuron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1440000" y="1836000"/>
            <a:ext cx="7232040" cy="15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Algoritmo de treinamento:  </a:t>
            </a:r>
            <a:r>
              <a:rPr lang="pt-BR" sz="1800" b="0" strike="noStrike" spc="-1">
                <a:solidFill>
                  <a:srgbClr val="FFBF00"/>
                </a:solidFill>
                <a:latin typeface="Arial"/>
                <a:ea typeface="DejaVu Sans"/>
              </a:rPr>
              <a:t>regra delta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ou LMS(least mean square)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 1) entradas e saidas contínuas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 2) minimização do erro quadrático  E = 0.5(t- y)</a:t>
            </a:r>
            <a:r>
              <a:rPr lang="pt-BR" sz="1800" b="0" strike="noStrike" spc="-1" baseline="30000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 3)  atualização dos pesos: Δw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i 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= α(t-y)x</a:t>
            </a:r>
            <a:r>
              <a:rPr lang="pt-BR" sz="1800" b="0" strike="noStrike" spc="-1" baseline="-25000">
                <a:solidFill>
                  <a:srgbClr val="FFFFFF"/>
                </a:solidFill>
                <a:latin typeface="Arial"/>
                <a:ea typeface="DejaVu Sans"/>
              </a:rPr>
              <a:t>i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 4) função de ativação: linear</a:t>
            </a:r>
            <a:r>
              <a:rPr lang="pt-BR" sz="1800" b="0" strike="noStrike" spc="-1">
                <a:solidFill>
                  <a:srgbClr val="EEB00B"/>
                </a:solidFill>
                <a:latin typeface="Arial"/>
                <a:ea typeface="DejaVu Sans"/>
              </a:rPr>
              <a:t> </a:t>
            </a: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1117800" y="176760"/>
            <a:ext cx="4641480" cy="15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2400" b="0" strike="noStrike" spc="-1">
                <a:solidFill>
                  <a:srgbClr val="FFFFFF"/>
                </a:solidFill>
                <a:latin typeface="Arial"/>
                <a:ea typeface="DejaVu Sans"/>
              </a:rPr>
              <a:t> </a:t>
            </a:r>
            <a:r>
              <a:rPr lang="pt-BR" sz="2400" b="0" strike="noStrike" spc="-1">
                <a:solidFill>
                  <a:srgbClr val="FFCC66"/>
                </a:solidFill>
                <a:latin typeface="Arial"/>
                <a:ea typeface="DejaVu Sans"/>
              </a:rPr>
              <a:t>Gradiente descendente:</a:t>
            </a: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2400" b="0" strike="noStrike" spc="-1">
              <a:latin typeface="Arial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4921920" y="1696680"/>
            <a:ext cx="771120" cy="38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9" name="CustomShape 3"/>
          <p:cNvSpPr/>
          <p:nvPr/>
        </p:nvSpPr>
        <p:spPr>
          <a:xfrm>
            <a:off x="4921920" y="1696680"/>
            <a:ext cx="74160" cy="17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60" name="Imagem 159"/>
          <p:cNvPicPr/>
          <p:nvPr/>
        </p:nvPicPr>
        <p:blipFill>
          <a:blip r:embed="rId2"/>
          <a:stretch/>
        </p:blipFill>
        <p:spPr>
          <a:xfrm>
            <a:off x="2772000" y="828000"/>
            <a:ext cx="3462840" cy="471240"/>
          </a:xfrm>
          <a:prstGeom prst="rect">
            <a:avLst/>
          </a:prstGeom>
          <a:ln w="0">
            <a:noFill/>
          </a:ln>
        </p:spPr>
      </p:pic>
      <p:pic>
        <p:nvPicPr>
          <p:cNvPr id="161" name="Imagem 160"/>
          <p:cNvPicPr/>
          <p:nvPr/>
        </p:nvPicPr>
        <p:blipFill>
          <a:blip r:embed="rId3"/>
          <a:stretch/>
        </p:blipFill>
        <p:spPr>
          <a:xfrm>
            <a:off x="2772000" y="1297440"/>
            <a:ext cx="3709080" cy="502200"/>
          </a:xfrm>
          <a:prstGeom prst="rect">
            <a:avLst/>
          </a:prstGeom>
          <a:ln w="0">
            <a:noFill/>
          </a:ln>
        </p:spPr>
      </p:pic>
      <p:pic>
        <p:nvPicPr>
          <p:cNvPr id="162" name="Imagem 161"/>
          <p:cNvPicPr/>
          <p:nvPr/>
        </p:nvPicPr>
        <p:blipFill>
          <a:blip r:embed="rId4"/>
          <a:stretch/>
        </p:blipFill>
        <p:spPr>
          <a:xfrm>
            <a:off x="2772000" y="1800360"/>
            <a:ext cx="4139280" cy="1313640"/>
          </a:xfrm>
          <a:prstGeom prst="rect">
            <a:avLst/>
          </a:prstGeom>
          <a:ln w="0">
            <a:noFill/>
          </a:ln>
        </p:spPr>
      </p:pic>
      <p:pic>
        <p:nvPicPr>
          <p:cNvPr id="163" name="Imagem 162"/>
          <p:cNvPicPr/>
          <p:nvPr/>
        </p:nvPicPr>
        <p:blipFill>
          <a:blip r:embed="rId5"/>
          <a:stretch/>
        </p:blipFill>
        <p:spPr>
          <a:xfrm>
            <a:off x="2787120" y="3114720"/>
            <a:ext cx="2540520" cy="482040"/>
          </a:xfrm>
          <a:prstGeom prst="rect">
            <a:avLst/>
          </a:prstGeom>
          <a:ln w="0">
            <a:noFill/>
          </a:ln>
        </p:spPr>
      </p:pic>
      <p:pic>
        <p:nvPicPr>
          <p:cNvPr id="164" name="Imagem 163"/>
          <p:cNvPicPr/>
          <p:nvPr/>
        </p:nvPicPr>
        <p:blipFill>
          <a:blip r:embed="rId6"/>
          <a:stretch/>
        </p:blipFill>
        <p:spPr>
          <a:xfrm>
            <a:off x="2782800" y="3545640"/>
            <a:ext cx="3401280" cy="595080"/>
          </a:xfrm>
          <a:prstGeom prst="rect">
            <a:avLst/>
          </a:prstGeom>
          <a:ln w="0">
            <a:noFill/>
          </a:ln>
        </p:spPr>
      </p:pic>
      <p:pic>
        <p:nvPicPr>
          <p:cNvPr id="165" name="Imagem 164"/>
          <p:cNvPicPr/>
          <p:nvPr/>
        </p:nvPicPr>
        <p:blipFill>
          <a:blip r:embed="rId7"/>
          <a:stretch/>
        </p:blipFill>
        <p:spPr>
          <a:xfrm>
            <a:off x="2782800" y="4141440"/>
            <a:ext cx="2971080" cy="646200"/>
          </a:xfrm>
          <a:prstGeom prst="rect">
            <a:avLst/>
          </a:prstGeom>
          <a:ln w="0">
            <a:noFill/>
          </a:ln>
        </p:spPr>
      </p:pic>
      <p:pic>
        <p:nvPicPr>
          <p:cNvPr id="166" name="Imagem 165"/>
          <p:cNvPicPr/>
          <p:nvPr/>
        </p:nvPicPr>
        <p:blipFill>
          <a:blip r:embed="rId8"/>
          <a:stretch/>
        </p:blipFill>
        <p:spPr>
          <a:xfrm>
            <a:off x="2783160" y="4751640"/>
            <a:ext cx="1157040" cy="553680"/>
          </a:xfrm>
          <a:prstGeom prst="rect">
            <a:avLst/>
          </a:prstGeom>
          <a:ln w="0">
            <a:noFill/>
          </a:ln>
        </p:spPr>
      </p:pic>
      <p:pic>
        <p:nvPicPr>
          <p:cNvPr id="167" name="Imagem 166"/>
          <p:cNvPicPr/>
          <p:nvPr/>
        </p:nvPicPr>
        <p:blipFill>
          <a:blip r:embed="rId9"/>
          <a:stretch/>
        </p:blipFill>
        <p:spPr>
          <a:xfrm>
            <a:off x="2794320" y="5267160"/>
            <a:ext cx="3114360" cy="492120"/>
          </a:xfrm>
          <a:prstGeom prst="rect">
            <a:avLst/>
          </a:prstGeom>
          <a:ln w="0">
            <a:noFill/>
          </a:ln>
        </p:spPr>
      </p:pic>
      <p:pic>
        <p:nvPicPr>
          <p:cNvPr id="168" name="Imagem 167"/>
          <p:cNvPicPr/>
          <p:nvPr/>
        </p:nvPicPr>
        <p:blipFill>
          <a:blip r:embed="rId10"/>
          <a:stretch/>
        </p:blipFill>
        <p:spPr>
          <a:xfrm>
            <a:off x="2770920" y="5851800"/>
            <a:ext cx="5080320" cy="843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Adaline – Adaptive linear neuron</a:t>
            </a:r>
            <a:endParaRPr lang="pt-BR" sz="4400" b="0" strike="noStrike" spc="-1">
              <a:latin typeface="Arial"/>
            </a:endParaRPr>
          </a:p>
        </p:txBody>
      </p:sp>
      <p:pic>
        <p:nvPicPr>
          <p:cNvPr id="170" name="Imagem 9_0" descr="ScreenHunter_556 Apr. 03 14.01.jpg"/>
          <p:cNvPicPr/>
          <p:nvPr/>
        </p:nvPicPr>
        <p:blipFill>
          <a:blip r:embed="rId2"/>
          <a:stretch/>
        </p:blipFill>
        <p:spPr>
          <a:xfrm>
            <a:off x="1423440" y="2520000"/>
            <a:ext cx="7503120" cy="3814200"/>
          </a:xfrm>
          <a:prstGeom prst="rect">
            <a:avLst/>
          </a:prstGeom>
          <a:ln w="0">
            <a:noFill/>
          </a:ln>
        </p:spPr>
      </p:pic>
      <p:sp>
        <p:nvSpPr>
          <p:cNvPr id="171" name="CustomShape 2"/>
          <p:cNvSpPr/>
          <p:nvPr/>
        </p:nvSpPr>
        <p:spPr>
          <a:xfrm>
            <a:off x="1656000" y="1800000"/>
            <a:ext cx="2228760" cy="45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- </a:t>
            </a:r>
            <a:r>
              <a:rPr lang="pt-BR" sz="2600" b="0" strike="noStrike" spc="-1">
                <a:solidFill>
                  <a:srgbClr val="FFFFFF"/>
                </a:solidFill>
                <a:latin typeface="Arial"/>
                <a:ea typeface="DejaVu Sans"/>
              </a:rPr>
              <a:t>Teste</a:t>
            </a:r>
            <a:r>
              <a:rPr lang="pt-BR" sz="1800" b="0" strike="noStrike" spc="-1">
                <a:solidFill>
                  <a:srgbClr val="FFFFFF"/>
                </a:solidFill>
                <a:latin typeface="Arial"/>
                <a:ea typeface="DejaVu Sans"/>
              </a:rPr>
              <a:t>:</a:t>
            </a:r>
            <a:endParaRPr lang="pt-BR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219320" y="304920"/>
            <a:ext cx="7768440" cy="1202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Adaline – Adaptive linear neuron</a:t>
            </a:r>
            <a:endParaRPr lang="pt-BR" sz="4400" b="0" strike="noStrike" spc="-1"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1296360" y="1609920"/>
            <a:ext cx="343800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2400" b="0" strike="noStrike" spc="-1">
                <a:solidFill>
                  <a:srgbClr val="EAEAEA"/>
                </a:solidFill>
                <a:latin typeface="Times New Roman"/>
                <a:ea typeface="DejaVu Sans"/>
              </a:rPr>
              <a:t>Algoritmo de treinamento: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174" name="Imagem 4_0" descr="ScreenHunter_608 Sep. 17 14.13.jpg"/>
          <p:cNvPicPr/>
          <p:nvPr/>
        </p:nvPicPr>
        <p:blipFill>
          <a:blip r:embed="rId2"/>
          <a:stretch/>
        </p:blipFill>
        <p:spPr>
          <a:xfrm>
            <a:off x="2214720" y="2143080"/>
            <a:ext cx="6282720" cy="1053360"/>
          </a:xfrm>
          <a:prstGeom prst="rect">
            <a:avLst/>
          </a:prstGeom>
          <a:ln w="0">
            <a:noFill/>
          </a:ln>
        </p:spPr>
      </p:pic>
      <p:pic>
        <p:nvPicPr>
          <p:cNvPr id="175" name="Imagem 5_0" descr="ScreenHunter_607 Sep. 17 14.13.jpg"/>
          <p:cNvPicPr/>
          <p:nvPr/>
        </p:nvPicPr>
        <p:blipFill>
          <a:blip r:embed="rId3"/>
          <a:stretch/>
        </p:blipFill>
        <p:spPr>
          <a:xfrm>
            <a:off x="2214720" y="3214800"/>
            <a:ext cx="6273000" cy="3615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      </a:t>
            </a: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      </a:t>
            </a: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400" b="0" strike="noStrike" spc="-1">
                <a:solidFill>
                  <a:srgbClr val="FFCC66"/>
                </a:solidFill>
                <a:latin typeface="Times New Roman"/>
                <a:ea typeface="DejaVu Sans"/>
              </a:rPr>
              <a:t>          Adaline - exemplo</a:t>
            </a:r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219320" y="304920"/>
            <a:ext cx="7768080" cy="12020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      </a:t>
            </a:r>
            <a:endParaRPr lang="pt-BR" sz="4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      </a:t>
            </a:r>
            <a:endParaRPr lang="pt-BR" sz="4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4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  </a:t>
            </a:r>
            <a:r>
              <a:rPr lang="en-US" sz="36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Trabalho</a:t>
            </a:r>
            <a:r>
              <a:rPr lang="en-US" sz="36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3600" b="0" strike="noStrike" spc="-1" dirty="0" smtClean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36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-  </a:t>
            </a:r>
            <a:r>
              <a:rPr lang="en-US" sz="36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Classificação</a:t>
            </a:r>
            <a:r>
              <a:rPr lang="en-US" sz="36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de </a:t>
            </a:r>
            <a:r>
              <a:rPr lang="en-US" sz="3600" b="0" strike="noStrike" spc="-1" dirty="0" err="1" smtClean="0">
                <a:solidFill>
                  <a:srgbClr val="FFCC66"/>
                </a:solidFill>
                <a:latin typeface="Times New Roman"/>
                <a:ea typeface="DejaVu Sans"/>
              </a:rPr>
              <a:t>padrões</a:t>
            </a:r>
            <a:r>
              <a:rPr lang="en-US" sz="3600" b="0" strike="noStrike" spc="-1" dirty="0" smtClean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3600" b="0" strike="noStrike" spc="-1" dirty="0" err="1" smtClean="0">
                <a:solidFill>
                  <a:srgbClr val="FFCC66"/>
                </a:solidFill>
                <a:latin typeface="Times New Roman"/>
                <a:ea typeface="DejaVu Sans"/>
              </a:rPr>
              <a:t>usando</a:t>
            </a:r>
            <a:r>
              <a:rPr lang="en-US" sz="3600" b="0" strike="noStrike" spc="-1" smtClean="0">
                <a:solidFill>
                  <a:srgbClr val="FFCC66"/>
                </a:solidFill>
                <a:latin typeface="Times New Roman"/>
                <a:ea typeface="DejaVu Sans"/>
              </a:rPr>
              <a:t> Adaline </a:t>
            </a:r>
            <a:endParaRPr lang="pt-BR" sz="3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3200" b="0" strike="noStrike" spc="-1" dirty="0" smtClean="0">
              <a:solidFill>
                <a:srgbClr val="FFCC66"/>
              </a:solidFill>
              <a:latin typeface="Times New Roman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 dirty="0" smtClean="0">
                <a:solidFill>
                  <a:srgbClr val="FFCC66"/>
                </a:solidFill>
                <a:latin typeface="Times New Roman"/>
                <a:ea typeface="DejaVu Sans"/>
              </a:rPr>
              <a:t>-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Treinar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um Adaline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usando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a base de </a:t>
            </a:r>
            <a:r>
              <a:rPr lang="en-US" sz="2400" b="0" strike="noStrike" spc="-1" dirty="0" smtClean="0">
                <a:solidFill>
                  <a:srgbClr val="FFCC66"/>
                </a:solidFill>
                <a:latin typeface="Times New Roman"/>
                <a:ea typeface="DejaVu Sans"/>
              </a:rPr>
              <a:t>dados  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B2 .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-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Plotar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o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erro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quadrático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total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durante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</a:t>
            </a:r>
            <a:r>
              <a:rPr lang="en-US" sz="2400" b="0" strike="noStrike" spc="-1" dirty="0" smtClean="0">
                <a:solidFill>
                  <a:srgbClr val="FFCC66"/>
                </a:solidFill>
                <a:latin typeface="Times New Roman"/>
                <a:ea typeface="DejaVu Sans"/>
              </a:rPr>
              <a:t>o 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treinamento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.</a:t>
            </a:r>
            <a:endParaRPr lang="pt-BR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-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Realizar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o teste da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rede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 neural </a:t>
            </a:r>
            <a:r>
              <a:rPr lang="en-US" sz="2400" b="0" strike="noStrike" spc="-1" dirty="0" err="1">
                <a:solidFill>
                  <a:srgbClr val="FFCC66"/>
                </a:solidFill>
                <a:latin typeface="Times New Roman"/>
                <a:ea typeface="DejaVu Sans"/>
              </a:rPr>
              <a:t>treinada</a:t>
            </a:r>
            <a:r>
              <a:rPr lang="en-US" sz="2400" b="0" strike="noStrike" spc="-1" dirty="0">
                <a:solidFill>
                  <a:srgbClr val="FFCC66"/>
                </a:solidFill>
                <a:latin typeface="Times New Roman"/>
                <a:ea typeface="DejaVu Sans"/>
              </a:rPr>
              <a:t>.</a:t>
            </a:r>
            <a:endParaRPr lang="pt-BR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6E0D263096AE543989EDC63A5F204DE" ma:contentTypeVersion="3" ma:contentTypeDescription="Crie um novo documento." ma:contentTypeScope="" ma:versionID="6b46a758bcee6fc954b4405472999535">
  <xsd:schema xmlns:xsd="http://www.w3.org/2001/XMLSchema" xmlns:xs="http://www.w3.org/2001/XMLSchema" xmlns:p="http://schemas.microsoft.com/office/2006/metadata/properties" xmlns:ns2="f86bb142-cfc2-49f8-a6a3-1f1ebe9ac78f" targetNamespace="http://schemas.microsoft.com/office/2006/metadata/properties" ma:root="true" ma:fieldsID="bbfb16fa2ba3bfa7298bbbbbdbccf4e8" ns2:_="">
    <xsd:import namespace="f86bb142-cfc2-49f8-a6a3-1f1ebe9ac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6bb142-cfc2-49f8-a6a3-1f1ebe9ac7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6F905E-8929-463D-9503-88840A3F178A}"/>
</file>

<file path=customXml/itemProps2.xml><?xml version="1.0" encoding="utf-8"?>
<ds:datastoreItem xmlns:ds="http://schemas.openxmlformats.org/officeDocument/2006/customXml" ds:itemID="{E830A539-21A0-471A-9253-00D492CAC350}"/>
</file>

<file path=customXml/itemProps3.xml><?xml version="1.0" encoding="utf-8"?>
<ds:datastoreItem xmlns:ds="http://schemas.openxmlformats.org/officeDocument/2006/customXml" ds:itemID="{392954E0-B3F4-43B7-A067-43DDA61BB385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apresentação\Chave e fechadura.pot</Template>
  <TotalTime>1113</TotalTime>
  <Words>160</Words>
  <Application>Microsoft Office PowerPoint</Application>
  <PresentationFormat>Apresentação na tela (4:3)</PresentationFormat>
  <Paragraphs>70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Keiji</dc:creator>
  <dc:description/>
  <cp:lastModifiedBy>Keiji</cp:lastModifiedBy>
  <cp:revision>149</cp:revision>
  <dcterms:created xsi:type="dcterms:W3CDTF">1601-01-01T00:00:00Z</dcterms:created>
  <dcterms:modified xsi:type="dcterms:W3CDTF">2024-02-15T12:54:35Z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  <property fmtid="{D5CDD505-2E9C-101B-9397-08002B2CF9AE}" pid="12" name="ContentTypeId">
    <vt:lpwstr>0x010100B6E0D263096AE543989EDC63A5F204DE</vt:lpwstr>
  </property>
</Properties>
</file>