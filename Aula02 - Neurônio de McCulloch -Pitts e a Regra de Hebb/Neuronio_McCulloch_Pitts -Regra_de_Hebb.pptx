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82" r:id="rId22"/>
    <p:sldId id="283" r:id="rId23"/>
    <p:sldId id="284" r:id="rId24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04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00B5B"/>
            </a:gs>
            <a:gs pos="50000">
              <a:srgbClr val="6600FF"/>
            </a:gs>
            <a:gs pos="100000">
              <a:srgbClr val="200B5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040" cy="6854040"/>
          </a:xfrm>
          <a:prstGeom prst="rect">
            <a:avLst/>
          </a:prstGeom>
          <a:ln w="12600">
            <a:noFill/>
          </a:ln>
        </p:spPr>
      </p:pic>
      <p:pic>
        <p:nvPicPr>
          <p:cNvPr id="5" name="Picture 1036"/>
          <p:cNvPicPr/>
          <p:nvPr/>
        </p:nvPicPr>
        <p:blipFill>
          <a:blip r:embed="rId14"/>
          <a:stretch/>
        </p:blipFill>
        <p:spPr>
          <a:xfrm>
            <a:off x="0" y="0"/>
            <a:ext cx="1367640" cy="685404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040" cy="6854040"/>
          </a:xfrm>
          <a:prstGeom prst="rect">
            <a:avLst/>
          </a:prstGeom>
          <a:ln w="1260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6520" cy="685152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1523880" y="1009800"/>
            <a:ext cx="7311240" cy="2112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</a:t>
            </a:r>
            <a:r>
              <a:rPr lang="en-US" sz="4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  Neurais Artificiais</a:t>
            </a:r>
            <a:endParaRPr lang="pt-BR" sz="4800" b="0" strike="noStrike" spc="-1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1523880" y="2666880"/>
            <a:ext cx="7006320" cy="3729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</a:t>
            </a:r>
            <a:endParaRPr lang="pt-BR" sz="3200" b="0" strike="noStrike" spc="-1" dirty="0">
              <a:latin typeface="Arial"/>
            </a:endParaRPr>
          </a:p>
          <a:p>
            <a:pPr marL="457200" indent="-457200">
              <a:lnSpc>
                <a:spcPct val="80000"/>
              </a:lnSpc>
              <a:spcBef>
                <a:spcPts val="641"/>
              </a:spcBef>
              <a:buFontTx/>
              <a:buChar char="-"/>
            </a:pPr>
            <a:r>
              <a:rPr lang="pt-BR" sz="2800" b="0" strike="noStrike" spc="-1" dirty="0">
                <a:solidFill>
                  <a:schemeClr val="bg1"/>
                </a:solidFill>
                <a:latin typeface="Arial"/>
              </a:rPr>
              <a:t>Neurônio de </a:t>
            </a:r>
            <a:r>
              <a:rPr lang="pt-BR" sz="2800" b="0" strike="noStrike" spc="-1" dirty="0" err="1">
                <a:solidFill>
                  <a:schemeClr val="bg1"/>
                </a:solidFill>
                <a:latin typeface="Arial"/>
              </a:rPr>
              <a:t>McCullch</a:t>
            </a:r>
            <a:r>
              <a:rPr lang="pt-BR" sz="2800" b="0" strike="noStrike" spc="-1" dirty="0">
                <a:solidFill>
                  <a:schemeClr val="bg1"/>
                </a:solidFill>
                <a:latin typeface="Arial"/>
              </a:rPr>
              <a:t>—</a:t>
            </a:r>
            <a:r>
              <a:rPr lang="pt-BR" sz="2800" b="0" strike="noStrike" spc="-1" dirty="0" err="1">
                <a:solidFill>
                  <a:schemeClr val="bg1"/>
                </a:solidFill>
                <a:latin typeface="Arial"/>
              </a:rPr>
              <a:t>Pitts</a:t>
            </a:r>
            <a:endParaRPr lang="pt-BR" sz="2800" b="0" strike="noStrike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pt-BR" sz="2800" spc="-1" dirty="0">
                <a:solidFill>
                  <a:schemeClr val="bg1"/>
                </a:solidFill>
                <a:latin typeface="Arial"/>
              </a:rPr>
              <a:t>-   Regra de </a:t>
            </a:r>
            <a:r>
              <a:rPr lang="pt-BR" sz="2800" spc="-1" dirty="0" err="1">
                <a:solidFill>
                  <a:schemeClr val="bg1"/>
                </a:solidFill>
                <a:latin typeface="Arial"/>
              </a:rPr>
              <a:t>Hebb</a:t>
            </a:r>
            <a:endParaRPr lang="pt-BR" sz="2800" b="0" strike="noStrike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    </a:t>
            </a:r>
          </a:p>
          <a:p>
            <a:pPr>
              <a:lnSpc>
                <a:spcPct val="80000"/>
              </a:lnSpc>
              <a:spcBef>
                <a:spcPts val="479"/>
              </a:spcBef>
            </a:pPr>
            <a:endParaRPr lang="en-US" sz="2400" spc="-1" dirty="0">
              <a:solidFill>
                <a:srgbClr val="EAEAEA"/>
              </a:solidFill>
              <a:latin typeface="Times New Roman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      Prof.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Keiji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Yamanaka 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Faculdade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Engenharia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Elétrica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– UFU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			</a:t>
            </a: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biológico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133" name="Picture 5" descr="rna_automacao1x-1024x457"/>
          <p:cNvPicPr/>
          <p:nvPr/>
        </p:nvPicPr>
        <p:blipFill>
          <a:blip r:embed="rId2"/>
          <a:stretch/>
        </p:blipFill>
        <p:spPr>
          <a:xfrm>
            <a:off x="1371600" y="2060640"/>
            <a:ext cx="7300080" cy="346464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artificial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343400" y="2870280"/>
            <a:ext cx="529560" cy="529560"/>
          </a:xfrm>
          <a:prstGeom prst="ellipse">
            <a:avLst/>
          </a:prstGeom>
          <a:solidFill>
            <a:srgbClr val="FF0000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Line 3"/>
          <p:cNvSpPr/>
          <p:nvPr/>
        </p:nvSpPr>
        <p:spPr>
          <a:xfrm>
            <a:off x="2133360" y="2209680"/>
            <a:ext cx="2210040" cy="7621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Line 4"/>
          <p:cNvSpPr/>
          <p:nvPr/>
        </p:nvSpPr>
        <p:spPr>
          <a:xfrm>
            <a:off x="2209680" y="3200400"/>
            <a:ext cx="213372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Line 5"/>
          <p:cNvSpPr/>
          <p:nvPr/>
        </p:nvSpPr>
        <p:spPr>
          <a:xfrm flipV="1">
            <a:off x="2209680" y="3352680"/>
            <a:ext cx="2209680" cy="9144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Line 6"/>
          <p:cNvSpPr/>
          <p:nvPr/>
        </p:nvSpPr>
        <p:spPr>
          <a:xfrm>
            <a:off x="4912560" y="3164400"/>
            <a:ext cx="53352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7"/>
          <p:cNvSpPr/>
          <p:nvPr/>
        </p:nvSpPr>
        <p:spPr>
          <a:xfrm>
            <a:off x="3048120" y="213372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1" name="CustomShape 8"/>
          <p:cNvSpPr/>
          <p:nvPr/>
        </p:nvSpPr>
        <p:spPr>
          <a:xfrm>
            <a:off x="2895480" y="276696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2" name="CustomShape 9"/>
          <p:cNvSpPr/>
          <p:nvPr/>
        </p:nvSpPr>
        <p:spPr>
          <a:xfrm>
            <a:off x="3048120" y="337644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3" name="CustomShape 10"/>
          <p:cNvSpPr/>
          <p:nvPr/>
        </p:nvSpPr>
        <p:spPr>
          <a:xfrm>
            <a:off x="5338080" y="2935800"/>
            <a:ext cx="5295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4" name="CustomShape 11"/>
          <p:cNvSpPr/>
          <p:nvPr/>
        </p:nvSpPr>
        <p:spPr>
          <a:xfrm>
            <a:off x="1676520" y="198108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5" name="CustomShape 12"/>
          <p:cNvSpPr/>
          <p:nvPr/>
        </p:nvSpPr>
        <p:spPr>
          <a:xfrm>
            <a:off x="1676520" y="297180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6" name="CustomShape 13"/>
          <p:cNvSpPr/>
          <p:nvPr/>
        </p:nvSpPr>
        <p:spPr>
          <a:xfrm>
            <a:off x="1676520" y="4114800"/>
            <a:ext cx="529560" cy="43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0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47" name="CustomShape 14"/>
          <p:cNvSpPr/>
          <p:nvPr/>
        </p:nvSpPr>
        <p:spPr>
          <a:xfrm>
            <a:off x="5851440" y="4308480"/>
            <a:ext cx="2602800" cy="45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15"/>
          <p:cNvSpPr/>
          <p:nvPr/>
        </p:nvSpPr>
        <p:spPr>
          <a:xfrm>
            <a:off x="2819520" y="5181480"/>
            <a:ext cx="6320520" cy="107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Neurônio Y recebe sinais 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, 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e 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de entrada.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, 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, 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e b são os pesos das conexões.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49" name="CustomShape 16"/>
          <p:cNvSpPr/>
          <p:nvPr/>
        </p:nvSpPr>
        <p:spPr>
          <a:xfrm>
            <a:off x="4361040" y="2936880"/>
            <a:ext cx="52956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0" name="CustomShape 17"/>
          <p:cNvSpPr/>
          <p:nvPr/>
        </p:nvSpPr>
        <p:spPr>
          <a:xfrm>
            <a:off x="4191120" y="4267080"/>
            <a:ext cx="180360" cy="453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CustomShape 18"/>
          <p:cNvSpPr/>
          <p:nvPr/>
        </p:nvSpPr>
        <p:spPr>
          <a:xfrm>
            <a:off x="2057400" y="215748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19"/>
          <p:cNvSpPr/>
          <p:nvPr/>
        </p:nvSpPr>
        <p:spPr>
          <a:xfrm>
            <a:off x="2116080" y="314784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CustomShape 20"/>
          <p:cNvSpPr/>
          <p:nvPr/>
        </p:nvSpPr>
        <p:spPr>
          <a:xfrm>
            <a:off x="2133720" y="426708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CustomShape 21"/>
          <p:cNvSpPr/>
          <p:nvPr/>
        </p:nvSpPr>
        <p:spPr>
          <a:xfrm>
            <a:off x="1447920" y="4724280"/>
            <a:ext cx="11977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entradas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5" name="CustomShape 22"/>
          <p:cNvSpPr/>
          <p:nvPr/>
        </p:nvSpPr>
        <p:spPr>
          <a:xfrm>
            <a:off x="5257800" y="3429000"/>
            <a:ext cx="8074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saída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6" name="Line 23"/>
          <p:cNvSpPr/>
          <p:nvPr/>
        </p:nvSpPr>
        <p:spPr>
          <a:xfrm>
            <a:off x="4343400" y="1981080"/>
            <a:ext cx="228600" cy="8380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24"/>
          <p:cNvSpPr/>
          <p:nvPr/>
        </p:nvSpPr>
        <p:spPr>
          <a:xfrm>
            <a:off x="4308480" y="191124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25"/>
          <p:cNvSpPr/>
          <p:nvPr/>
        </p:nvSpPr>
        <p:spPr>
          <a:xfrm>
            <a:off x="3927600" y="1739880"/>
            <a:ext cx="5295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59" name="CustomShape 26"/>
          <p:cNvSpPr/>
          <p:nvPr/>
        </p:nvSpPr>
        <p:spPr>
          <a:xfrm>
            <a:off x="4395960" y="2133720"/>
            <a:ext cx="5295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</a:t>
            </a:r>
            <a:endParaRPr lang="pt-BR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artificial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3801960" y="2803680"/>
            <a:ext cx="903960" cy="845280"/>
          </a:xfrm>
          <a:prstGeom prst="rect">
            <a:avLst/>
          </a:prstGeom>
          <a:solidFill>
            <a:srgbClr val="E91611"/>
          </a:solidFill>
          <a:ln w="12600" cap="sq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Line 3"/>
          <p:cNvSpPr/>
          <p:nvPr/>
        </p:nvSpPr>
        <p:spPr>
          <a:xfrm>
            <a:off x="4768560" y="3238200"/>
            <a:ext cx="685800" cy="0"/>
          </a:xfrm>
          <a:prstGeom prst="line">
            <a:avLst/>
          </a:prstGeom>
          <a:ln w="7632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CustomShape 4"/>
          <p:cNvSpPr/>
          <p:nvPr/>
        </p:nvSpPr>
        <p:spPr>
          <a:xfrm>
            <a:off x="5478480" y="2286000"/>
            <a:ext cx="1519920" cy="1977120"/>
          </a:xfrm>
          <a:prstGeom prst="rect">
            <a:avLst/>
          </a:prstGeom>
          <a:solidFill>
            <a:srgbClr val="E91611"/>
          </a:solidFill>
          <a:ln w="12600" cap="sq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Line 5"/>
          <p:cNvSpPr/>
          <p:nvPr/>
        </p:nvSpPr>
        <p:spPr>
          <a:xfrm flipV="1">
            <a:off x="5889600" y="2523960"/>
            <a:ext cx="0" cy="914400"/>
          </a:xfrm>
          <a:prstGeom prst="line">
            <a:avLst/>
          </a:prstGeom>
          <a:ln w="12600" cap="sq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Line 6"/>
          <p:cNvSpPr/>
          <p:nvPr/>
        </p:nvSpPr>
        <p:spPr>
          <a:xfrm>
            <a:off x="5806800" y="3460680"/>
            <a:ext cx="1143000" cy="0"/>
          </a:xfrm>
          <a:prstGeom prst="line">
            <a:avLst/>
          </a:prstGeom>
          <a:ln w="12600" cap="sq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Line 7"/>
          <p:cNvSpPr/>
          <p:nvPr/>
        </p:nvSpPr>
        <p:spPr>
          <a:xfrm flipH="1">
            <a:off x="5630760" y="3460680"/>
            <a:ext cx="30456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Line 8"/>
          <p:cNvSpPr/>
          <p:nvPr/>
        </p:nvSpPr>
        <p:spPr>
          <a:xfrm>
            <a:off x="5630760" y="3460680"/>
            <a:ext cx="533160" cy="0"/>
          </a:xfrm>
          <a:prstGeom prst="line">
            <a:avLst/>
          </a:prstGeom>
          <a:ln w="28440" cap="sq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Line 9"/>
          <p:cNvSpPr/>
          <p:nvPr/>
        </p:nvSpPr>
        <p:spPr>
          <a:xfrm flipV="1">
            <a:off x="6163920" y="3003480"/>
            <a:ext cx="0" cy="457200"/>
          </a:xfrm>
          <a:prstGeom prst="line">
            <a:avLst/>
          </a:prstGeom>
          <a:ln w="28440" cap="sq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Line 10"/>
          <p:cNvSpPr/>
          <p:nvPr/>
        </p:nvSpPr>
        <p:spPr>
          <a:xfrm>
            <a:off x="6163920" y="3003480"/>
            <a:ext cx="533520" cy="0"/>
          </a:xfrm>
          <a:prstGeom prst="line">
            <a:avLst/>
          </a:prstGeom>
          <a:ln w="28440" cap="sq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Line 11"/>
          <p:cNvSpPr/>
          <p:nvPr/>
        </p:nvSpPr>
        <p:spPr>
          <a:xfrm>
            <a:off x="7061040" y="3232080"/>
            <a:ext cx="685800" cy="0"/>
          </a:xfrm>
          <a:prstGeom prst="line">
            <a:avLst/>
          </a:prstGeom>
          <a:ln w="7632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CustomShape 12"/>
          <p:cNvSpPr/>
          <p:nvPr/>
        </p:nvSpPr>
        <p:spPr>
          <a:xfrm>
            <a:off x="2278080" y="224172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CustomShape 13"/>
          <p:cNvSpPr/>
          <p:nvPr/>
        </p:nvSpPr>
        <p:spPr>
          <a:xfrm>
            <a:off x="2278080" y="319716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14"/>
          <p:cNvSpPr/>
          <p:nvPr/>
        </p:nvSpPr>
        <p:spPr>
          <a:xfrm>
            <a:off x="2278080" y="413388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Line 15"/>
          <p:cNvSpPr/>
          <p:nvPr/>
        </p:nvSpPr>
        <p:spPr>
          <a:xfrm>
            <a:off x="2354040" y="2317680"/>
            <a:ext cx="1447920" cy="6858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Line 16"/>
          <p:cNvSpPr/>
          <p:nvPr/>
        </p:nvSpPr>
        <p:spPr>
          <a:xfrm>
            <a:off x="2354040" y="3238200"/>
            <a:ext cx="144792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Line 17"/>
          <p:cNvSpPr/>
          <p:nvPr/>
        </p:nvSpPr>
        <p:spPr>
          <a:xfrm flipV="1">
            <a:off x="2354040" y="3460680"/>
            <a:ext cx="1447920" cy="6858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18"/>
          <p:cNvSpPr/>
          <p:nvPr/>
        </p:nvSpPr>
        <p:spPr>
          <a:xfrm>
            <a:off x="1854360" y="2089080"/>
            <a:ext cx="4204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78" name="CustomShape 19"/>
          <p:cNvSpPr/>
          <p:nvPr/>
        </p:nvSpPr>
        <p:spPr>
          <a:xfrm>
            <a:off x="1854360" y="3003480"/>
            <a:ext cx="4204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79" name="CustomShape 20"/>
          <p:cNvSpPr/>
          <p:nvPr/>
        </p:nvSpPr>
        <p:spPr>
          <a:xfrm>
            <a:off x="1846440" y="3917880"/>
            <a:ext cx="43416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0" name="CustomShape 21"/>
          <p:cNvSpPr/>
          <p:nvPr/>
        </p:nvSpPr>
        <p:spPr>
          <a:xfrm>
            <a:off x="2738880" y="2165400"/>
            <a:ext cx="48780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1" name="CustomShape 22"/>
          <p:cNvSpPr/>
          <p:nvPr/>
        </p:nvSpPr>
        <p:spPr>
          <a:xfrm>
            <a:off x="2659320" y="2763720"/>
            <a:ext cx="48780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2" name="CustomShape 23"/>
          <p:cNvSpPr/>
          <p:nvPr/>
        </p:nvSpPr>
        <p:spPr>
          <a:xfrm>
            <a:off x="2718000" y="3373560"/>
            <a:ext cx="48780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3" name="CustomShape 24"/>
          <p:cNvSpPr/>
          <p:nvPr/>
        </p:nvSpPr>
        <p:spPr>
          <a:xfrm>
            <a:off x="4007520" y="2876400"/>
            <a:ext cx="582120" cy="638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3600" b="0" strike="noStrike" spc="-1">
                <a:solidFill>
                  <a:srgbClr val="FFFF00"/>
                </a:solidFill>
                <a:latin typeface="Symbol"/>
                <a:ea typeface="DejaVu Sans"/>
              </a:rPr>
              <a:t>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4" name="CustomShape 25"/>
          <p:cNvSpPr/>
          <p:nvPr/>
        </p:nvSpPr>
        <p:spPr>
          <a:xfrm>
            <a:off x="4717080" y="2698920"/>
            <a:ext cx="61416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net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185" name="CustomShape 26"/>
          <p:cNvSpPr/>
          <p:nvPr/>
        </p:nvSpPr>
        <p:spPr>
          <a:xfrm>
            <a:off x="7765200" y="2898720"/>
            <a:ext cx="383760" cy="577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y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86" name="CustomShape 27"/>
          <p:cNvSpPr/>
          <p:nvPr/>
        </p:nvSpPr>
        <p:spPr>
          <a:xfrm>
            <a:off x="1265400" y="4764240"/>
            <a:ext cx="7692120" cy="1672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Entrada líquida do neurônio Y:        Ativação y do neurônio: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net = 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.x</a:t>
            </a:r>
            <a:r>
              <a:rPr lang="en-US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+b               y  =  f(net) ,  onde f é a 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                                                     função de ativação.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7" name="CustomShape 28"/>
          <p:cNvSpPr/>
          <p:nvPr/>
        </p:nvSpPr>
        <p:spPr>
          <a:xfrm>
            <a:off x="5563800" y="2376360"/>
            <a:ext cx="2818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f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8" name="CustomShape 29"/>
          <p:cNvSpPr/>
          <p:nvPr/>
        </p:nvSpPr>
        <p:spPr>
          <a:xfrm>
            <a:off x="6469560" y="3384720"/>
            <a:ext cx="55296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net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9" name="CustomShape 30"/>
          <p:cNvSpPr/>
          <p:nvPr/>
        </p:nvSpPr>
        <p:spPr>
          <a:xfrm>
            <a:off x="6026040" y="3433680"/>
            <a:ext cx="30168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θ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90" name="Line 31"/>
          <p:cNvSpPr/>
          <p:nvPr/>
        </p:nvSpPr>
        <p:spPr>
          <a:xfrm>
            <a:off x="4190760" y="1904760"/>
            <a:ext cx="0" cy="83844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CustomShape 32"/>
          <p:cNvSpPr/>
          <p:nvPr/>
        </p:nvSpPr>
        <p:spPr>
          <a:xfrm>
            <a:off x="4167360" y="180504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CustomShape 33"/>
          <p:cNvSpPr/>
          <p:nvPr/>
        </p:nvSpPr>
        <p:spPr>
          <a:xfrm>
            <a:off x="3840120" y="158760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3" name="CustomShape 34"/>
          <p:cNvSpPr/>
          <p:nvPr/>
        </p:nvSpPr>
        <p:spPr>
          <a:xfrm>
            <a:off x="4201920" y="198108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4" name="CustomShape 35"/>
          <p:cNvSpPr/>
          <p:nvPr/>
        </p:nvSpPr>
        <p:spPr>
          <a:xfrm>
            <a:off x="5586480" y="2801880"/>
            <a:ext cx="316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5" name="Line 36"/>
          <p:cNvSpPr/>
          <p:nvPr/>
        </p:nvSpPr>
        <p:spPr>
          <a:xfrm>
            <a:off x="5808600" y="3012840"/>
            <a:ext cx="15228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7"/>
          <p:cNvSpPr/>
          <p:nvPr/>
        </p:nvSpPr>
        <p:spPr>
          <a:xfrm>
            <a:off x="5867280" y="3504960"/>
            <a:ext cx="360" cy="36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Line 38"/>
          <p:cNvSpPr/>
          <p:nvPr/>
        </p:nvSpPr>
        <p:spPr>
          <a:xfrm>
            <a:off x="5884560" y="3429000"/>
            <a:ext cx="0" cy="60948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Arquiteturas típicas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1219320" y="1600200"/>
            <a:ext cx="7768440" cy="681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RNA de uma camada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200" name="CustomShape 3"/>
          <p:cNvSpPr/>
          <p:nvPr/>
        </p:nvSpPr>
        <p:spPr>
          <a:xfrm>
            <a:off x="5410080" y="3962520"/>
            <a:ext cx="300960" cy="300960"/>
          </a:xfrm>
          <a:prstGeom prst="ellipse">
            <a:avLst/>
          </a:prstGeom>
          <a:solidFill>
            <a:srgbClr val="FF0000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CustomShape 4"/>
          <p:cNvSpPr/>
          <p:nvPr/>
        </p:nvSpPr>
        <p:spPr>
          <a:xfrm>
            <a:off x="5410080" y="3187800"/>
            <a:ext cx="300960" cy="300960"/>
          </a:xfrm>
          <a:prstGeom prst="ellipse">
            <a:avLst/>
          </a:prstGeom>
          <a:solidFill>
            <a:srgbClr val="FF0000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CustomShape 5"/>
          <p:cNvSpPr/>
          <p:nvPr/>
        </p:nvSpPr>
        <p:spPr>
          <a:xfrm>
            <a:off x="5410080" y="4724280"/>
            <a:ext cx="300960" cy="300960"/>
          </a:xfrm>
          <a:prstGeom prst="ellipse">
            <a:avLst/>
          </a:prstGeom>
          <a:solidFill>
            <a:srgbClr val="FF0000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CustomShape 6"/>
          <p:cNvSpPr/>
          <p:nvPr/>
        </p:nvSpPr>
        <p:spPr>
          <a:xfrm>
            <a:off x="3276720" y="363204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CustomShape 7"/>
          <p:cNvSpPr/>
          <p:nvPr/>
        </p:nvSpPr>
        <p:spPr>
          <a:xfrm>
            <a:off x="3276720" y="4533840"/>
            <a:ext cx="72360" cy="7236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Line 8"/>
          <p:cNvSpPr/>
          <p:nvPr/>
        </p:nvSpPr>
        <p:spPr>
          <a:xfrm flipV="1">
            <a:off x="3352680" y="3352680"/>
            <a:ext cx="2057400" cy="3049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Line 9"/>
          <p:cNvSpPr/>
          <p:nvPr/>
        </p:nvSpPr>
        <p:spPr>
          <a:xfrm>
            <a:off x="3352680" y="3657600"/>
            <a:ext cx="2057400" cy="4572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Line 10"/>
          <p:cNvSpPr/>
          <p:nvPr/>
        </p:nvSpPr>
        <p:spPr>
          <a:xfrm>
            <a:off x="3352680" y="3657600"/>
            <a:ext cx="2057400" cy="11430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Line 11"/>
          <p:cNvSpPr/>
          <p:nvPr/>
        </p:nvSpPr>
        <p:spPr>
          <a:xfrm flipV="1">
            <a:off x="3352680" y="3429000"/>
            <a:ext cx="2133720" cy="11430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Line 12"/>
          <p:cNvSpPr/>
          <p:nvPr/>
        </p:nvSpPr>
        <p:spPr>
          <a:xfrm flipV="1">
            <a:off x="3352680" y="4190760"/>
            <a:ext cx="2057400" cy="38124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Line 13"/>
          <p:cNvSpPr/>
          <p:nvPr/>
        </p:nvSpPr>
        <p:spPr>
          <a:xfrm>
            <a:off x="3352680" y="4572000"/>
            <a:ext cx="2057400" cy="3808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Line 14"/>
          <p:cNvSpPr/>
          <p:nvPr/>
        </p:nvSpPr>
        <p:spPr>
          <a:xfrm>
            <a:off x="5715000" y="3352680"/>
            <a:ext cx="4572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Line 15"/>
          <p:cNvSpPr/>
          <p:nvPr/>
        </p:nvSpPr>
        <p:spPr>
          <a:xfrm>
            <a:off x="5715000" y="4114800"/>
            <a:ext cx="4572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Line 16"/>
          <p:cNvSpPr/>
          <p:nvPr/>
        </p:nvSpPr>
        <p:spPr>
          <a:xfrm>
            <a:off x="5715000" y="4876560"/>
            <a:ext cx="4572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17"/>
          <p:cNvSpPr/>
          <p:nvPr/>
        </p:nvSpPr>
        <p:spPr>
          <a:xfrm>
            <a:off x="6173640" y="3128400"/>
            <a:ext cx="40824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5" name="CustomShape 18"/>
          <p:cNvSpPr/>
          <p:nvPr/>
        </p:nvSpPr>
        <p:spPr>
          <a:xfrm>
            <a:off x="6173640" y="3890520"/>
            <a:ext cx="40824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6" name="CustomShape 19"/>
          <p:cNvSpPr/>
          <p:nvPr/>
        </p:nvSpPr>
        <p:spPr>
          <a:xfrm>
            <a:off x="6173640" y="4652280"/>
            <a:ext cx="40824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y3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7" name="CustomShape 20"/>
          <p:cNvSpPr/>
          <p:nvPr/>
        </p:nvSpPr>
        <p:spPr>
          <a:xfrm>
            <a:off x="2896920" y="3505320"/>
            <a:ext cx="40824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8" name="CustomShape 21"/>
          <p:cNvSpPr/>
          <p:nvPr/>
        </p:nvSpPr>
        <p:spPr>
          <a:xfrm>
            <a:off x="2896920" y="4419720"/>
            <a:ext cx="40824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9" name="CustomShape 22"/>
          <p:cNvSpPr/>
          <p:nvPr/>
        </p:nvSpPr>
        <p:spPr>
          <a:xfrm>
            <a:off x="4195440" y="3200400"/>
            <a:ext cx="47988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w11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0" name="CustomShape 23"/>
          <p:cNvSpPr/>
          <p:nvPr/>
        </p:nvSpPr>
        <p:spPr>
          <a:xfrm>
            <a:off x="4115520" y="3581280"/>
            <a:ext cx="48744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w12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1" name="CustomShape 24"/>
          <p:cNvSpPr/>
          <p:nvPr/>
        </p:nvSpPr>
        <p:spPr>
          <a:xfrm>
            <a:off x="3582000" y="3886200"/>
            <a:ext cx="48744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w13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2" name="CustomShape 25"/>
          <p:cNvSpPr/>
          <p:nvPr/>
        </p:nvSpPr>
        <p:spPr>
          <a:xfrm>
            <a:off x="4115520" y="4343400"/>
            <a:ext cx="48744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w22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3" name="CustomShape 26"/>
          <p:cNvSpPr/>
          <p:nvPr/>
        </p:nvSpPr>
        <p:spPr>
          <a:xfrm>
            <a:off x="4039200" y="4724280"/>
            <a:ext cx="48744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w23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4" name="CustomShape 27"/>
          <p:cNvSpPr/>
          <p:nvPr/>
        </p:nvSpPr>
        <p:spPr>
          <a:xfrm>
            <a:off x="4801320" y="3657600"/>
            <a:ext cx="487440" cy="302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w21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225" name="CustomShape 28"/>
          <p:cNvSpPr/>
          <p:nvPr/>
        </p:nvSpPr>
        <p:spPr>
          <a:xfrm>
            <a:off x="2667240" y="5410080"/>
            <a:ext cx="94320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entradas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26" name="CustomShape 29"/>
          <p:cNvSpPr/>
          <p:nvPr/>
        </p:nvSpPr>
        <p:spPr>
          <a:xfrm>
            <a:off x="6021000" y="5410080"/>
            <a:ext cx="739080" cy="363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saidas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Arquiteturas típicas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228" name="Picture 4" descr="C:\Enock\moppeel\camadas.gif"/>
          <p:cNvPicPr/>
          <p:nvPr/>
        </p:nvPicPr>
        <p:blipFill>
          <a:blip r:embed="rId2"/>
          <a:stretch/>
        </p:blipFill>
        <p:spPr>
          <a:xfrm>
            <a:off x="1143000" y="2444760"/>
            <a:ext cx="7768440" cy="4409280"/>
          </a:xfrm>
          <a:prstGeom prst="rect">
            <a:avLst/>
          </a:prstGeom>
          <a:ln w="12600">
            <a:noFill/>
          </a:ln>
        </p:spPr>
      </p:pic>
      <p:sp>
        <p:nvSpPr>
          <p:cNvPr id="229" name="CustomShape 2"/>
          <p:cNvSpPr/>
          <p:nvPr/>
        </p:nvSpPr>
        <p:spPr>
          <a:xfrm>
            <a:off x="1326240" y="1600200"/>
            <a:ext cx="3462480" cy="577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RNA multicamada</a:t>
            </a:r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1249200" y="22860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Funções de ativação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231" name="Line 2"/>
          <p:cNvSpPr/>
          <p:nvPr/>
        </p:nvSpPr>
        <p:spPr>
          <a:xfrm flipV="1">
            <a:off x="6476760" y="1676160"/>
            <a:ext cx="0" cy="19051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Line 3"/>
          <p:cNvSpPr/>
          <p:nvPr/>
        </p:nvSpPr>
        <p:spPr>
          <a:xfrm>
            <a:off x="4916160" y="3200400"/>
            <a:ext cx="32004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Line 4"/>
          <p:cNvSpPr/>
          <p:nvPr/>
        </p:nvSpPr>
        <p:spPr>
          <a:xfrm>
            <a:off x="6019560" y="3200400"/>
            <a:ext cx="990720" cy="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4" name="Line 5"/>
          <p:cNvSpPr/>
          <p:nvPr/>
        </p:nvSpPr>
        <p:spPr>
          <a:xfrm flipV="1">
            <a:off x="7010280" y="2361960"/>
            <a:ext cx="0" cy="83844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Line 6"/>
          <p:cNvSpPr/>
          <p:nvPr/>
        </p:nvSpPr>
        <p:spPr>
          <a:xfrm>
            <a:off x="7010280" y="2361960"/>
            <a:ext cx="914400" cy="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CustomShape 7"/>
          <p:cNvSpPr/>
          <p:nvPr/>
        </p:nvSpPr>
        <p:spPr>
          <a:xfrm>
            <a:off x="1196640" y="1778040"/>
            <a:ext cx="264708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a) Função degrau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37" name="CustomShape 8"/>
          <p:cNvSpPr/>
          <p:nvPr/>
        </p:nvSpPr>
        <p:spPr>
          <a:xfrm>
            <a:off x="1267200" y="4191120"/>
            <a:ext cx="329940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b) Função semi-linear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38" name="Line 9"/>
          <p:cNvSpPr/>
          <p:nvPr/>
        </p:nvSpPr>
        <p:spPr>
          <a:xfrm flipV="1">
            <a:off x="6478560" y="4114800"/>
            <a:ext cx="0" cy="190476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Line 10"/>
          <p:cNvSpPr/>
          <p:nvPr/>
        </p:nvSpPr>
        <p:spPr>
          <a:xfrm>
            <a:off x="4917960" y="5638680"/>
            <a:ext cx="32004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Line 11"/>
          <p:cNvSpPr/>
          <p:nvPr/>
        </p:nvSpPr>
        <p:spPr>
          <a:xfrm>
            <a:off x="5689440" y="5638680"/>
            <a:ext cx="990720" cy="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Line 12"/>
          <p:cNvSpPr/>
          <p:nvPr/>
        </p:nvSpPr>
        <p:spPr>
          <a:xfrm>
            <a:off x="7395840" y="4800600"/>
            <a:ext cx="914400" cy="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Line 13"/>
          <p:cNvSpPr/>
          <p:nvPr/>
        </p:nvSpPr>
        <p:spPr>
          <a:xfrm flipV="1">
            <a:off x="6707160" y="4800600"/>
            <a:ext cx="685800" cy="83808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3" name="CustomShape 14"/>
          <p:cNvSpPr/>
          <p:nvPr/>
        </p:nvSpPr>
        <p:spPr>
          <a:xfrm>
            <a:off x="7850160" y="320040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44" name="CustomShape 15"/>
          <p:cNvSpPr/>
          <p:nvPr/>
        </p:nvSpPr>
        <p:spPr>
          <a:xfrm>
            <a:off x="7851600" y="561024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45" name="CustomShape 16"/>
          <p:cNvSpPr/>
          <p:nvPr/>
        </p:nvSpPr>
        <p:spPr>
          <a:xfrm>
            <a:off x="5868000" y="1600200"/>
            <a:ext cx="6382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f(x)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246" name="CustomShape 17"/>
          <p:cNvSpPr/>
          <p:nvPr/>
        </p:nvSpPr>
        <p:spPr>
          <a:xfrm>
            <a:off x="5793480" y="4038480"/>
            <a:ext cx="6382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f(x)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47" name="CustomShape 18"/>
          <p:cNvSpPr/>
          <p:nvPr/>
        </p:nvSpPr>
        <p:spPr>
          <a:xfrm>
            <a:off x="6859440" y="3276720"/>
            <a:ext cx="30168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θ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48" name="CustomShape 19"/>
          <p:cNvSpPr/>
          <p:nvPr/>
        </p:nvSpPr>
        <p:spPr>
          <a:xfrm>
            <a:off x="6096600" y="2157480"/>
            <a:ext cx="30780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49" name="Line 20"/>
          <p:cNvSpPr/>
          <p:nvPr/>
        </p:nvSpPr>
        <p:spPr>
          <a:xfrm>
            <a:off x="6400800" y="2361960"/>
            <a:ext cx="15228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21"/>
          <p:cNvSpPr/>
          <p:nvPr/>
        </p:nvSpPr>
        <p:spPr>
          <a:xfrm>
            <a:off x="6096600" y="4565520"/>
            <a:ext cx="30780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51" name="Line 22"/>
          <p:cNvSpPr/>
          <p:nvPr/>
        </p:nvSpPr>
        <p:spPr>
          <a:xfrm>
            <a:off x="6400800" y="4724280"/>
            <a:ext cx="15228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CustomShape 23"/>
          <p:cNvSpPr/>
          <p:nvPr/>
        </p:nvSpPr>
        <p:spPr>
          <a:xfrm>
            <a:off x="6543000" y="5649840"/>
            <a:ext cx="42948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θ1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53" name="CustomShape 24"/>
          <p:cNvSpPr/>
          <p:nvPr/>
        </p:nvSpPr>
        <p:spPr>
          <a:xfrm>
            <a:off x="7187760" y="5656320"/>
            <a:ext cx="42948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θ2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54" name="Line 25"/>
          <p:cNvSpPr/>
          <p:nvPr/>
        </p:nvSpPr>
        <p:spPr>
          <a:xfrm flipV="1">
            <a:off x="7391160" y="5562360"/>
            <a:ext cx="0" cy="152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5" name="Line 26"/>
          <p:cNvSpPr/>
          <p:nvPr/>
        </p:nvSpPr>
        <p:spPr>
          <a:xfrm flipV="1">
            <a:off x="6705360" y="5562360"/>
            <a:ext cx="0" cy="15264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Formula 27"/>
              <p:cNvSpPr txBox="1"/>
              <p:nvPr/>
            </p:nvSpPr>
            <p:spPr>
              <a:xfrm>
                <a:off x="4245840" y="3277440"/>
                <a:ext cx="69840" cy="167040"/>
              </a:xfrm>
              <a:prstGeom prst="rect">
                <a:avLst/>
              </a:prstGeom>
            </p:spPr>
            <p:txBody>
              <a:bodyPr/>
              <a:lstStyle/>
              <a:p>
                <a:endParaRPr/>
              </a:p>
            </p:txBody>
          </p:sp>
        </mc:Choice>
        <mc:Fallback xmlns:p15="http://schemas.microsoft.com/office/powerpoint/2012/main" xmlns:p14="http://schemas.microsoft.com/office/powerpoint/2010/main" xmlns=""/>
      </mc:AlternateContent>
      <p:sp>
        <p:nvSpPr>
          <p:cNvPr id="29" name="CustomShape 28">
            <a:extLst>
              <a:ext uri="{FF2B5EF4-FFF2-40B4-BE49-F238E27FC236}">
                <a16:creationId xmlns:a16="http://schemas.microsoft.com/office/drawing/2014/main" id="{048190E8-2695-479B-9F71-1861EED18050}"/>
              </a:ext>
            </a:extLst>
          </p:cNvPr>
          <p:cNvSpPr/>
          <p:nvPr/>
        </p:nvSpPr>
        <p:spPr>
          <a:xfrm>
            <a:off x="1423889" y="2531340"/>
            <a:ext cx="2845440" cy="119887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1, se </a:t>
            </a:r>
            <a:r>
              <a:rPr lang="pt-BR" sz="2400" spc="-1" dirty="0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f(x) =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0, se </a:t>
            </a:r>
            <a:r>
              <a:rPr lang="pt-BR" sz="2400" spc="-1" dirty="0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1207CE05-DA43-4212-9BCA-BEE68AA6D8FB}"/>
              </a:ext>
            </a:extLst>
          </p:cNvPr>
          <p:cNvSpPr/>
          <p:nvPr/>
        </p:nvSpPr>
        <p:spPr>
          <a:xfrm>
            <a:off x="2428672" y="253656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Line 18">
            <a:extLst>
              <a:ext uri="{FF2B5EF4-FFF2-40B4-BE49-F238E27FC236}">
                <a16:creationId xmlns:a16="http://schemas.microsoft.com/office/drawing/2014/main" id="{CA7E183E-39B1-449B-ACD9-C78D462A8991}"/>
              </a:ext>
            </a:extLst>
          </p:cNvPr>
          <p:cNvSpPr/>
          <p:nvPr/>
        </p:nvSpPr>
        <p:spPr>
          <a:xfrm>
            <a:off x="2428672" y="325584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C1E098A9-95BE-4D6E-A3AA-447842782FFD}"/>
              </a:ext>
            </a:extLst>
          </p:cNvPr>
          <p:cNvSpPr/>
          <p:nvPr/>
        </p:nvSpPr>
        <p:spPr>
          <a:xfrm flipV="1">
            <a:off x="2428672" y="248400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Line 20">
            <a:extLst>
              <a:ext uri="{FF2B5EF4-FFF2-40B4-BE49-F238E27FC236}">
                <a16:creationId xmlns:a16="http://schemas.microsoft.com/office/drawing/2014/main" id="{5AA33FAD-866A-4E5D-8CEC-005C8677B00F}"/>
              </a:ext>
            </a:extLst>
          </p:cNvPr>
          <p:cNvSpPr/>
          <p:nvPr/>
        </p:nvSpPr>
        <p:spPr>
          <a:xfrm flipV="1">
            <a:off x="2339752" y="306216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21">
            <a:extLst>
              <a:ext uri="{FF2B5EF4-FFF2-40B4-BE49-F238E27FC236}">
                <a16:creationId xmlns:a16="http://schemas.microsoft.com/office/drawing/2014/main" id="{CA20B255-7446-476A-95DB-D6400B9D08CB}"/>
              </a:ext>
            </a:extLst>
          </p:cNvPr>
          <p:cNvSpPr/>
          <p:nvPr/>
        </p:nvSpPr>
        <p:spPr>
          <a:xfrm>
            <a:off x="2447752" y="376524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22">
            <a:extLst>
              <a:ext uri="{FF2B5EF4-FFF2-40B4-BE49-F238E27FC236}">
                <a16:creationId xmlns:a16="http://schemas.microsoft.com/office/drawing/2014/main" id="{AF6B34BD-2472-4D69-8E7E-B85C26FF2DA3}"/>
              </a:ext>
            </a:extLst>
          </p:cNvPr>
          <p:cNvSpPr/>
          <p:nvPr/>
        </p:nvSpPr>
        <p:spPr>
          <a:xfrm>
            <a:off x="2339752" y="31618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Funções de ativação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1280160" y="1981080"/>
            <a:ext cx="248868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c) Função linear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59" name="Line 3"/>
          <p:cNvSpPr/>
          <p:nvPr/>
        </p:nvSpPr>
        <p:spPr>
          <a:xfrm flipV="1">
            <a:off x="6507000" y="1904760"/>
            <a:ext cx="0" cy="19051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Line 4"/>
          <p:cNvSpPr/>
          <p:nvPr/>
        </p:nvSpPr>
        <p:spPr>
          <a:xfrm>
            <a:off x="4946400" y="3429000"/>
            <a:ext cx="32004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5"/>
          <p:cNvSpPr/>
          <p:nvPr/>
        </p:nvSpPr>
        <p:spPr>
          <a:xfrm>
            <a:off x="7880040" y="340056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62" name="CustomShape 6"/>
          <p:cNvSpPr/>
          <p:nvPr/>
        </p:nvSpPr>
        <p:spPr>
          <a:xfrm>
            <a:off x="5842800" y="1752480"/>
            <a:ext cx="6886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y(x)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63" name="Line 7"/>
          <p:cNvSpPr/>
          <p:nvPr/>
        </p:nvSpPr>
        <p:spPr>
          <a:xfrm flipV="1">
            <a:off x="5867280" y="2361960"/>
            <a:ext cx="2057400" cy="1524240"/>
          </a:xfrm>
          <a:prstGeom prst="line">
            <a:avLst/>
          </a:prstGeom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Line 8"/>
          <p:cNvSpPr/>
          <p:nvPr/>
        </p:nvSpPr>
        <p:spPr>
          <a:xfrm flipV="1">
            <a:off x="6476760" y="4371840"/>
            <a:ext cx="1800" cy="19051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Line 9"/>
          <p:cNvSpPr/>
          <p:nvPr/>
        </p:nvSpPr>
        <p:spPr>
          <a:xfrm>
            <a:off x="4916160" y="5895720"/>
            <a:ext cx="3200400" cy="18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0"/>
          <p:cNvSpPr/>
          <p:nvPr/>
        </p:nvSpPr>
        <p:spPr>
          <a:xfrm>
            <a:off x="7850160" y="586728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67" name="CustomShape 11"/>
          <p:cNvSpPr/>
          <p:nvPr/>
        </p:nvSpPr>
        <p:spPr>
          <a:xfrm>
            <a:off x="5812560" y="4219560"/>
            <a:ext cx="6886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y(x)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68" name="CustomShape 12"/>
          <p:cNvSpPr/>
          <p:nvPr/>
        </p:nvSpPr>
        <p:spPr>
          <a:xfrm>
            <a:off x="1236600" y="4267080"/>
            <a:ext cx="310428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d) Função sigmoidal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69" name="CustomShape 13"/>
          <p:cNvSpPr/>
          <p:nvPr/>
        </p:nvSpPr>
        <p:spPr>
          <a:xfrm>
            <a:off x="5257800" y="4800600"/>
            <a:ext cx="2434320" cy="1075680"/>
          </a:xfrm>
          <a:custGeom>
            <a:avLst/>
            <a:gdLst/>
            <a:ahLst/>
            <a:cxnLst/>
            <a:rect l="l" t="t" r="r" b="b"/>
            <a:pathLst>
              <a:path w="1536" h="680">
                <a:moveTo>
                  <a:pt x="1536" y="40"/>
                </a:moveTo>
                <a:cubicBezTo>
                  <a:pt x="1296" y="20"/>
                  <a:pt x="1056" y="0"/>
                  <a:pt x="912" y="88"/>
                </a:cubicBezTo>
                <a:cubicBezTo>
                  <a:pt x="768" y="176"/>
                  <a:pt x="792" y="472"/>
                  <a:pt x="672" y="568"/>
                </a:cubicBezTo>
                <a:cubicBezTo>
                  <a:pt x="552" y="664"/>
                  <a:pt x="304" y="648"/>
                  <a:pt x="192" y="664"/>
                </a:cubicBezTo>
                <a:cubicBezTo>
                  <a:pt x="80" y="680"/>
                  <a:pt x="32" y="664"/>
                  <a:pt x="0" y="664"/>
                </a:cubicBezTo>
              </a:path>
            </a:pathLst>
          </a:custGeom>
          <a:noFill/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70" name="Object 14"/>
          <p:cNvGraphicFramePr/>
          <p:nvPr>
            <p:extLst>
              <p:ext uri="{D42A27DB-BD31-4B8C-83A1-F6EECF244321}">
                <p14:modId xmlns:p14="http://schemas.microsoft.com/office/powerpoint/2010/main" val="526031669"/>
              </p:ext>
            </p:extLst>
          </p:nvPr>
        </p:nvGraphicFramePr>
        <p:xfrm>
          <a:off x="1753920" y="4921560"/>
          <a:ext cx="2586960" cy="121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r:id="rId3" imgW="0" imgH="0" progId="Equation.3">
                  <p:embed/>
                </p:oleObj>
              </mc:Choice>
              <mc:Fallback>
                <p:oleObj r:id="rId3" imgW="0" imgH="0" progId="Equation.3">
                  <p:embed/>
                  <p:pic>
                    <p:nvPicPr>
                      <p:cNvPr id="271" name="Object 21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1753920" y="4921560"/>
                        <a:ext cx="2586960" cy="121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" name="Object 15"/>
          <p:cNvGraphicFramePr/>
          <p:nvPr>
            <p:extLst>
              <p:ext uri="{D42A27DB-BD31-4B8C-83A1-F6EECF244321}">
                <p14:modId xmlns:p14="http://schemas.microsoft.com/office/powerpoint/2010/main" val="2300568379"/>
              </p:ext>
            </p:extLst>
          </p:nvPr>
        </p:nvGraphicFramePr>
        <p:xfrm>
          <a:off x="1872000" y="3003480"/>
          <a:ext cx="2085480" cy="67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r:id="rId5" imgW="0" imgH="0" progId="Equation.3">
                  <p:embed/>
                </p:oleObj>
              </mc:Choice>
              <mc:Fallback>
                <p:oleObj r:id="rId5" imgW="0" imgH="0" progId="Equation.3">
                  <p:embed/>
                  <p:pic>
                    <p:nvPicPr>
                      <p:cNvPr id="273" name="Object 22"/>
                      <p:cNvPicPr/>
                      <p:nvPr/>
                    </p:nvPicPr>
                    <p:blipFill>
                      <a:blip r:embed="rId6"/>
                      <a:stretch/>
                    </p:blipFill>
                    <p:spPr>
                      <a:xfrm>
                        <a:off x="1872000" y="3003480"/>
                        <a:ext cx="2085480" cy="6742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" name="CustomShape 16"/>
          <p:cNvSpPr/>
          <p:nvPr/>
        </p:nvSpPr>
        <p:spPr>
          <a:xfrm>
            <a:off x="6061680" y="4724280"/>
            <a:ext cx="30780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75" name="Line 17"/>
          <p:cNvSpPr/>
          <p:nvPr/>
        </p:nvSpPr>
        <p:spPr>
          <a:xfrm>
            <a:off x="6400800" y="4876560"/>
            <a:ext cx="15228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Line 1"/>
          <p:cNvSpPr/>
          <p:nvPr/>
        </p:nvSpPr>
        <p:spPr>
          <a:xfrm flipV="1">
            <a:off x="7046640" y="2546280"/>
            <a:ext cx="1800" cy="190476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Line 2"/>
          <p:cNvSpPr/>
          <p:nvPr/>
        </p:nvSpPr>
        <p:spPr>
          <a:xfrm>
            <a:off x="5486400" y="3581280"/>
            <a:ext cx="3200400" cy="144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CustomShape 3"/>
          <p:cNvSpPr/>
          <p:nvPr/>
        </p:nvSpPr>
        <p:spPr>
          <a:xfrm>
            <a:off x="8420040" y="355284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79" name="CustomShape 4"/>
          <p:cNvSpPr/>
          <p:nvPr/>
        </p:nvSpPr>
        <p:spPr>
          <a:xfrm>
            <a:off x="6401520" y="2362320"/>
            <a:ext cx="68868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y(x)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80" name="CustomShape 5"/>
          <p:cNvSpPr/>
          <p:nvPr/>
        </p:nvSpPr>
        <p:spPr>
          <a:xfrm>
            <a:off x="1188360" y="1152000"/>
            <a:ext cx="4571640" cy="516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e) Função tangente hiperbólica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81" name="CustomShape 6"/>
          <p:cNvSpPr/>
          <p:nvPr/>
        </p:nvSpPr>
        <p:spPr>
          <a:xfrm>
            <a:off x="5830920" y="2971800"/>
            <a:ext cx="2434320" cy="1075680"/>
          </a:xfrm>
          <a:custGeom>
            <a:avLst/>
            <a:gdLst/>
            <a:ahLst/>
            <a:cxnLst/>
            <a:rect l="l" t="t" r="r" b="b"/>
            <a:pathLst>
              <a:path w="1536" h="680">
                <a:moveTo>
                  <a:pt x="1536" y="40"/>
                </a:moveTo>
                <a:cubicBezTo>
                  <a:pt x="1296" y="20"/>
                  <a:pt x="1056" y="0"/>
                  <a:pt x="912" y="88"/>
                </a:cubicBezTo>
                <a:cubicBezTo>
                  <a:pt x="768" y="176"/>
                  <a:pt x="792" y="472"/>
                  <a:pt x="672" y="568"/>
                </a:cubicBezTo>
                <a:cubicBezTo>
                  <a:pt x="552" y="664"/>
                  <a:pt x="304" y="648"/>
                  <a:pt x="192" y="664"/>
                </a:cubicBezTo>
                <a:cubicBezTo>
                  <a:pt x="80" y="680"/>
                  <a:pt x="32" y="664"/>
                  <a:pt x="0" y="664"/>
                </a:cubicBezTo>
              </a:path>
            </a:pathLst>
          </a:custGeom>
          <a:noFill/>
          <a:ln w="28440" cap="sq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82" name="Object 7"/>
          <p:cNvGraphicFramePr/>
          <p:nvPr>
            <p:extLst>
              <p:ext uri="{D42A27DB-BD31-4B8C-83A1-F6EECF244321}">
                <p14:modId xmlns:p14="http://schemas.microsoft.com/office/powerpoint/2010/main" val="2979948112"/>
              </p:ext>
            </p:extLst>
          </p:nvPr>
        </p:nvGraphicFramePr>
        <p:xfrm>
          <a:off x="1477440" y="2586600"/>
          <a:ext cx="3526608" cy="96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r:id="rId3" imgW="0" imgH="0" progId="Equation.3">
                  <p:embed/>
                </p:oleObj>
              </mc:Choice>
              <mc:Fallback>
                <p:oleObj r:id="rId3" imgW="0" imgH="0" progId="Equation.3">
                  <p:embed/>
                  <p:pic>
                    <p:nvPicPr>
                      <p:cNvPr id="283" name="Object 1024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1477440" y="2586600"/>
                        <a:ext cx="3526608" cy="9662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" name="Line 8"/>
          <p:cNvSpPr/>
          <p:nvPr/>
        </p:nvSpPr>
        <p:spPr>
          <a:xfrm>
            <a:off x="7010280" y="4038480"/>
            <a:ext cx="7632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Line 9"/>
          <p:cNvSpPr/>
          <p:nvPr/>
        </p:nvSpPr>
        <p:spPr>
          <a:xfrm>
            <a:off x="7010280" y="3047760"/>
            <a:ext cx="76320" cy="0"/>
          </a:xfrm>
          <a:prstGeom prst="line">
            <a:avLst/>
          </a:prstGeom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CustomShape 10"/>
          <p:cNvSpPr/>
          <p:nvPr/>
        </p:nvSpPr>
        <p:spPr>
          <a:xfrm>
            <a:off x="7086600" y="3809880"/>
            <a:ext cx="39312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-1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87" name="CustomShape 11"/>
          <p:cNvSpPr/>
          <p:nvPr/>
        </p:nvSpPr>
        <p:spPr>
          <a:xfrm>
            <a:off x="6706440" y="2895480"/>
            <a:ext cx="30780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1520280" y="327960"/>
            <a:ext cx="7095240" cy="612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200" b="0" strike="noStrike" spc="-1">
                <a:solidFill>
                  <a:srgbClr val="FFC000"/>
                </a:solidFill>
                <a:latin typeface="Arial"/>
                <a:ea typeface="DejaVu Sans"/>
              </a:rPr>
              <a:t>Função de ativação ReLU</a:t>
            </a:r>
            <a:endParaRPr lang="pt-BR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- Unidade Linear Retificada:                                               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   y = max(0, x)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- Leaky ReLU :  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    y = x, se x&gt;=0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       = ax, se x&lt;0 ,  onde   (a&lt;1)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FFC000"/>
                </a:solidFill>
                <a:latin typeface="Arial"/>
                <a:ea typeface="DejaVu Sans"/>
              </a:rPr>
              <a:t>Obs: usar ReLU nas camadas ocultas.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4086000" y="1957320"/>
            <a:ext cx="714240" cy="35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0" name="CustomShape 3"/>
          <p:cNvSpPr/>
          <p:nvPr/>
        </p:nvSpPr>
        <p:spPr>
          <a:xfrm>
            <a:off x="4086000" y="1957320"/>
            <a:ext cx="66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91" name="Imagem 2_1"/>
          <p:cNvPicPr/>
          <p:nvPr/>
        </p:nvPicPr>
        <p:blipFill>
          <a:blip r:embed="rId2"/>
          <a:stretch/>
        </p:blipFill>
        <p:spPr>
          <a:xfrm>
            <a:off x="5425920" y="1171800"/>
            <a:ext cx="2502360" cy="2139840"/>
          </a:xfrm>
          <a:prstGeom prst="rect">
            <a:avLst/>
          </a:prstGeom>
          <a:ln w="0">
            <a:noFill/>
          </a:ln>
        </p:spPr>
      </p:pic>
      <p:pic>
        <p:nvPicPr>
          <p:cNvPr id="292" name="Imagem 3_1"/>
          <p:cNvPicPr/>
          <p:nvPr/>
        </p:nvPicPr>
        <p:blipFill>
          <a:blip r:embed="rId3"/>
          <a:stretch/>
        </p:blipFill>
        <p:spPr>
          <a:xfrm>
            <a:off x="5428800" y="3679920"/>
            <a:ext cx="2582640" cy="2126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0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de McCulloch-Pitts(1943)</a:t>
            </a:r>
            <a:endParaRPr lang="pt-BR" sz="4000" b="0" strike="noStrike" spc="-1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1219320" y="1600200"/>
            <a:ext cx="7768440" cy="492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9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Warren S. McCulloch(psiquiatra e neuroanatomista)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Walter Pitts( matemático)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Propõem primeiro neurônio artificial.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Hipóteses do modelo: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atividade 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binária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do modelo: (0 ou 1).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conexão é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excitatória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se peso &gt; zero, e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inibitória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se &lt; zero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pesos das conexões excitatórias que vão para um mesmo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neurônios são iguais. Idem para conexões inibitórias.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cada neurônio tem um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limiar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fixo. Se o valor líquido das 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entradas for maior que o limiar, o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dispara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limiar é definido para que a inibição seja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absolut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a.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leva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um passo no tempo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para o sinal transitar por cada </a:t>
            </a:r>
            <a:endParaRPr lang="pt-BR" sz="2400" b="0" strike="noStrike" spc="-1">
              <a:latin typeface="Arial"/>
            </a:endParaRPr>
          </a:p>
          <a:p>
            <a:pPr marL="343080" indent="-339120">
              <a:lnSpc>
                <a:spcPct val="9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conexão.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de McCulloch-Pitts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1219320" y="1600200"/>
            <a:ext cx="7768440" cy="492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Arquitetura: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299" name="CustomShape 3"/>
          <p:cNvSpPr/>
          <p:nvPr/>
        </p:nvSpPr>
        <p:spPr>
          <a:xfrm>
            <a:off x="1908000" y="244152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CustomShape 4"/>
          <p:cNvSpPr/>
          <p:nvPr/>
        </p:nvSpPr>
        <p:spPr>
          <a:xfrm>
            <a:off x="1908000" y="377208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1" name="CustomShape 5"/>
          <p:cNvSpPr/>
          <p:nvPr/>
        </p:nvSpPr>
        <p:spPr>
          <a:xfrm>
            <a:off x="1903320" y="447372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2" name="CustomShape 6"/>
          <p:cNvSpPr/>
          <p:nvPr/>
        </p:nvSpPr>
        <p:spPr>
          <a:xfrm>
            <a:off x="1903320" y="578628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7"/>
          <p:cNvSpPr/>
          <p:nvPr/>
        </p:nvSpPr>
        <p:spPr>
          <a:xfrm>
            <a:off x="2001600" y="2536920"/>
            <a:ext cx="341280" cy="366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04" name="CustomShape 8"/>
          <p:cNvSpPr/>
          <p:nvPr/>
        </p:nvSpPr>
        <p:spPr>
          <a:xfrm>
            <a:off x="2001600" y="3897360"/>
            <a:ext cx="341280" cy="366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n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05" name="CustomShape 9"/>
          <p:cNvSpPr/>
          <p:nvPr/>
        </p:nvSpPr>
        <p:spPr>
          <a:xfrm>
            <a:off x="1934640" y="4597560"/>
            <a:ext cx="466200" cy="366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n+1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06" name="CustomShape 10"/>
          <p:cNvSpPr/>
          <p:nvPr/>
        </p:nvSpPr>
        <p:spPr>
          <a:xfrm>
            <a:off x="1977840" y="5910120"/>
            <a:ext cx="373320" cy="366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m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07" name="CustomShape 11"/>
          <p:cNvSpPr/>
          <p:nvPr/>
        </p:nvSpPr>
        <p:spPr>
          <a:xfrm>
            <a:off x="4951440" y="3789360"/>
            <a:ext cx="715320" cy="85968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CustomShape 12"/>
          <p:cNvSpPr/>
          <p:nvPr/>
        </p:nvSpPr>
        <p:spPr>
          <a:xfrm>
            <a:off x="5154120" y="400536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309" name="CustomShape 13"/>
          <p:cNvSpPr/>
          <p:nvPr/>
        </p:nvSpPr>
        <p:spPr>
          <a:xfrm>
            <a:off x="2124000" y="515772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0" name="CustomShape 14"/>
          <p:cNvSpPr/>
          <p:nvPr/>
        </p:nvSpPr>
        <p:spPr>
          <a:xfrm>
            <a:off x="2124000" y="537372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5"/>
          <p:cNvSpPr/>
          <p:nvPr/>
        </p:nvSpPr>
        <p:spPr>
          <a:xfrm>
            <a:off x="2124000" y="559260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2" name="CustomShape 16"/>
          <p:cNvSpPr/>
          <p:nvPr/>
        </p:nvSpPr>
        <p:spPr>
          <a:xfrm>
            <a:off x="2130480" y="318600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CustomShape 17"/>
          <p:cNvSpPr/>
          <p:nvPr/>
        </p:nvSpPr>
        <p:spPr>
          <a:xfrm>
            <a:off x="2130480" y="340200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4" name="CustomShape 18"/>
          <p:cNvSpPr/>
          <p:nvPr/>
        </p:nvSpPr>
        <p:spPr>
          <a:xfrm>
            <a:off x="2127240" y="3618000"/>
            <a:ext cx="67320" cy="673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Line 19"/>
          <p:cNvSpPr/>
          <p:nvPr/>
        </p:nvSpPr>
        <p:spPr>
          <a:xfrm>
            <a:off x="2411280" y="2707920"/>
            <a:ext cx="2665440" cy="115272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Line 20"/>
          <p:cNvSpPr/>
          <p:nvPr/>
        </p:nvSpPr>
        <p:spPr>
          <a:xfrm>
            <a:off x="2411280" y="4076640"/>
            <a:ext cx="2521080" cy="14436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7" name="Line 21"/>
          <p:cNvSpPr/>
          <p:nvPr/>
        </p:nvSpPr>
        <p:spPr>
          <a:xfrm flipV="1">
            <a:off x="2411280" y="4652640"/>
            <a:ext cx="2808360" cy="14400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Line 22"/>
          <p:cNvSpPr/>
          <p:nvPr/>
        </p:nvSpPr>
        <p:spPr>
          <a:xfrm>
            <a:off x="5651280" y="4221000"/>
            <a:ext cx="43344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9" name="Line 23"/>
          <p:cNvSpPr/>
          <p:nvPr/>
        </p:nvSpPr>
        <p:spPr>
          <a:xfrm flipV="1">
            <a:off x="2411280" y="4365360"/>
            <a:ext cx="2592360" cy="4320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24"/>
          <p:cNvSpPr/>
          <p:nvPr/>
        </p:nvSpPr>
        <p:spPr>
          <a:xfrm>
            <a:off x="3183120" y="268596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21" name="CustomShape 25"/>
          <p:cNvSpPr/>
          <p:nvPr/>
        </p:nvSpPr>
        <p:spPr>
          <a:xfrm>
            <a:off x="3205440" y="370188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22" name="CustomShape 26"/>
          <p:cNvSpPr/>
          <p:nvPr/>
        </p:nvSpPr>
        <p:spPr>
          <a:xfrm>
            <a:off x="3209760" y="508464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p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23" name="CustomShape 27"/>
          <p:cNvSpPr/>
          <p:nvPr/>
        </p:nvSpPr>
        <p:spPr>
          <a:xfrm>
            <a:off x="3205080" y="4221000"/>
            <a:ext cx="33192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p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24" name="CustomShape 28"/>
          <p:cNvSpPr/>
          <p:nvPr/>
        </p:nvSpPr>
        <p:spPr>
          <a:xfrm>
            <a:off x="6070680" y="3598920"/>
            <a:ext cx="2845440" cy="1338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1, se y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l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f(y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l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) =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0, se y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l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25" name="Line 29"/>
          <p:cNvSpPr/>
          <p:nvPr/>
        </p:nvSpPr>
        <p:spPr>
          <a:xfrm>
            <a:off x="7048440" y="360504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Line 30"/>
          <p:cNvSpPr/>
          <p:nvPr/>
        </p:nvSpPr>
        <p:spPr>
          <a:xfrm>
            <a:off x="7048440" y="432432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Line 31"/>
          <p:cNvSpPr/>
          <p:nvPr/>
        </p:nvSpPr>
        <p:spPr>
          <a:xfrm flipV="1">
            <a:off x="7048440" y="35524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Line 32"/>
          <p:cNvSpPr/>
          <p:nvPr/>
        </p:nvSpPr>
        <p:spPr>
          <a:xfrm flipV="1">
            <a:off x="6959520" y="413064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Line 33"/>
          <p:cNvSpPr/>
          <p:nvPr/>
        </p:nvSpPr>
        <p:spPr>
          <a:xfrm>
            <a:off x="7067520" y="483372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0" name="Line 34"/>
          <p:cNvSpPr/>
          <p:nvPr/>
        </p:nvSpPr>
        <p:spPr>
          <a:xfrm>
            <a:off x="6959520" y="423036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1" name="CustomShape 35"/>
          <p:cNvSpPr/>
          <p:nvPr/>
        </p:nvSpPr>
        <p:spPr>
          <a:xfrm>
            <a:off x="4527360" y="5373720"/>
            <a:ext cx="4207320" cy="1287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...x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n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enviam sinais excitatórios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n+1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...x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m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enviam sinais inibitórios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= limiar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32" name="CustomShape 36"/>
          <p:cNvSpPr/>
          <p:nvPr/>
        </p:nvSpPr>
        <p:spPr>
          <a:xfrm>
            <a:off x="4136760" y="2349360"/>
            <a:ext cx="45928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l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= 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 ... 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n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 p.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n+1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 ... +p.x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m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 de McCulloch-Pitts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1219320" y="1600200"/>
            <a:ext cx="7768440" cy="4491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Condição  de inibição absoluta:</a:t>
            </a:r>
            <a:endParaRPr lang="pt-BR" sz="28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 	</a:t>
            </a:r>
            <a:r>
              <a:rPr lang="el-G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&gt; n.w – p</a:t>
            </a:r>
            <a:endParaRPr lang="pt-BR" sz="28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  <a:tabLst>
                <a:tab pos="0" algn="l"/>
              </a:tabLst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 dispara se recebe k ou mais entradas excitatórias e nehuma inibitória.</a:t>
            </a:r>
            <a:endParaRPr lang="pt-BR" sz="28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	k.w &gt;= </a:t>
            </a:r>
            <a:r>
              <a:rPr lang="el-G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8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  <a:tabLst>
                <a:tab pos="0" algn="l"/>
              </a:tabLst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Não há treinamento.</a:t>
            </a:r>
            <a:endParaRPr lang="pt-BR" sz="2800" b="0" strike="noStrike" spc="-1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  <a:tabLst>
                <a:tab pos="0" algn="l"/>
              </a:tabLst>
            </a:pPr>
            <a:r>
              <a:rPr lang="pt-BR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Aplicações: implementação de funções lógicas.</a:t>
            </a: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Aplicação dos neurônios de McCulloch-Pitts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1219320" y="1600200"/>
            <a:ext cx="7768440" cy="492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Função lógica OU:</a:t>
            </a:r>
            <a:endParaRPr lang="pt-BR" sz="2600" b="0" strike="noStrike" spc="-1">
              <a:latin typeface="Arial"/>
            </a:endParaRPr>
          </a:p>
        </p:txBody>
      </p:sp>
      <p:sp>
        <p:nvSpPr>
          <p:cNvPr id="337" name="CustomShape 3"/>
          <p:cNvSpPr/>
          <p:nvPr/>
        </p:nvSpPr>
        <p:spPr>
          <a:xfrm>
            <a:off x="3844080" y="253152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8" name="CustomShape 4"/>
          <p:cNvSpPr/>
          <p:nvPr/>
        </p:nvSpPr>
        <p:spPr>
          <a:xfrm>
            <a:off x="3880080" y="3360656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9" name="CustomShape 5"/>
          <p:cNvSpPr/>
          <p:nvPr/>
        </p:nvSpPr>
        <p:spPr>
          <a:xfrm>
            <a:off x="3924720" y="262692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40" name="CustomShape 6"/>
          <p:cNvSpPr/>
          <p:nvPr/>
        </p:nvSpPr>
        <p:spPr>
          <a:xfrm>
            <a:off x="3960720" y="3485936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2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41" name="CustomShape 7"/>
          <p:cNvSpPr/>
          <p:nvPr/>
        </p:nvSpPr>
        <p:spPr>
          <a:xfrm>
            <a:off x="5432400" y="2819520"/>
            <a:ext cx="715320" cy="68148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CustomShape 8"/>
          <p:cNvSpPr/>
          <p:nvPr/>
        </p:nvSpPr>
        <p:spPr>
          <a:xfrm>
            <a:off x="5635080" y="296136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343" name="Line 9"/>
          <p:cNvSpPr/>
          <p:nvPr/>
        </p:nvSpPr>
        <p:spPr>
          <a:xfrm>
            <a:off x="4348080" y="2819520"/>
            <a:ext cx="1084320" cy="3178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Line 10"/>
          <p:cNvSpPr/>
          <p:nvPr/>
        </p:nvSpPr>
        <p:spPr>
          <a:xfrm flipV="1">
            <a:off x="4391640" y="3323520"/>
            <a:ext cx="1040760" cy="323336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Line 11"/>
          <p:cNvSpPr/>
          <p:nvPr/>
        </p:nvSpPr>
        <p:spPr>
          <a:xfrm>
            <a:off x="6156000" y="3168000"/>
            <a:ext cx="3600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CustomShape 12"/>
          <p:cNvSpPr/>
          <p:nvPr/>
        </p:nvSpPr>
        <p:spPr>
          <a:xfrm>
            <a:off x="4668840" y="258012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47" name="CustomShape 13"/>
          <p:cNvSpPr/>
          <p:nvPr/>
        </p:nvSpPr>
        <p:spPr>
          <a:xfrm>
            <a:off x="4668840" y="303552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48" name="CustomShape 14"/>
          <p:cNvSpPr/>
          <p:nvPr/>
        </p:nvSpPr>
        <p:spPr>
          <a:xfrm>
            <a:off x="3209760" y="5084640"/>
            <a:ext cx="331560" cy="455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9" name="CustomShape 15"/>
          <p:cNvSpPr/>
          <p:nvPr/>
        </p:nvSpPr>
        <p:spPr>
          <a:xfrm>
            <a:off x="3205080" y="4320000"/>
            <a:ext cx="1186560" cy="356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CustomShape 16"/>
          <p:cNvSpPr/>
          <p:nvPr/>
        </p:nvSpPr>
        <p:spPr>
          <a:xfrm>
            <a:off x="6516000" y="2556000"/>
            <a:ext cx="2845440" cy="118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1,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f(y) =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0,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51" name="Line 17"/>
          <p:cNvSpPr/>
          <p:nvPr/>
        </p:nvSpPr>
        <p:spPr>
          <a:xfrm>
            <a:off x="7469640" y="253656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Line 18"/>
          <p:cNvSpPr/>
          <p:nvPr/>
        </p:nvSpPr>
        <p:spPr>
          <a:xfrm>
            <a:off x="7469640" y="325584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Line 19"/>
          <p:cNvSpPr/>
          <p:nvPr/>
        </p:nvSpPr>
        <p:spPr>
          <a:xfrm flipV="1">
            <a:off x="7469640" y="248400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4" name="Line 20"/>
          <p:cNvSpPr/>
          <p:nvPr/>
        </p:nvSpPr>
        <p:spPr>
          <a:xfrm flipV="1">
            <a:off x="7380720" y="306216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5" name="Line 21"/>
          <p:cNvSpPr/>
          <p:nvPr/>
        </p:nvSpPr>
        <p:spPr>
          <a:xfrm>
            <a:off x="7488720" y="376524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6" name="Line 22"/>
          <p:cNvSpPr/>
          <p:nvPr/>
        </p:nvSpPr>
        <p:spPr>
          <a:xfrm>
            <a:off x="7380720" y="31618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7" name="CustomShape 23"/>
          <p:cNvSpPr/>
          <p:nvPr/>
        </p:nvSpPr>
        <p:spPr>
          <a:xfrm>
            <a:off x="7048080" y="3930120"/>
            <a:ext cx="19396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y= 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58" name="CustomShape 24"/>
          <p:cNvSpPr/>
          <p:nvPr/>
        </p:nvSpPr>
        <p:spPr>
          <a:xfrm>
            <a:off x="1944000" y="2448000"/>
            <a:ext cx="113616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pc="-1" dirty="0">
                <a:solidFill>
                  <a:schemeClr val="bg1"/>
                </a:solidFill>
                <a:latin typeface="Arial"/>
              </a:rPr>
              <a:t>s</a:t>
            </a:r>
            <a:r>
              <a:rPr lang="pt-BR" spc="-1" baseline="-8000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s</a:t>
            </a:r>
            <a:r>
              <a:rPr lang="pt-BR" spc="-1" baseline="-8000" dirty="0">
                <a:solidFill>
                  <a:schemeClr val="bg1"/>
                </a:solidFill>
                <a:latin typeface="Arial"/>
              </a:rPr>
              <a:t>2</a:t>
            </a:r>
            <a:r>
              <a:rPr lang="pt-BR" sz="1800" b="0" strike="noStrike" spc="-1" baseline="-8000" dirty="0">
                <a:latin typeface="Arial"/>
              </a:rPr>
              <a:t>  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t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1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 </a:t>
            </a:r>
            <a:r>
              <a:rPr lang="pt-BR" sz="1800" b="0" strike="noStrike" spc="-1" dirty="0">
                <a:latin typeface="Arial"/>
              </a:rPr>
              <a:t> 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</a:t>
            </a:r>
          </a:p>
        </p:txBody>
      </p:sp>
      <p:sp>
        <p:nvSpPr>
          <p:cNvPr id="359" name="Line 25"/>
          <p:cNvSpPr/>
          <p:nvPr/>
        </p:nvSpPr>
        <p:spPr>
          <a:xfrm>
            <a:off x="1872000" y="244800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0" name="Line 26"/>
          <p:cNvSpPr/>
          <p:nvPr/>
        </p:nvSpPr>
        <p:spPr>
          <a:xfrm>
            <a:off x="1872000" y="381816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Line 27"/>
          <p:cNvSpPr/>
          <p:nvPr/>
        </p:nvSpPr>
        <p:spPr>
          <a:xfrm>
            <a:off x="1872000" y="2780928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2" name="Line 28"/>
          <p:cNvSpPr/>
          <p:nvPr/>
        </p:nvSpPr>
        <p:spPr>
          <a:xfrm>
            <a:off x="1872000" y="302400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3" name="Line 29"/>
          <p:cNvSpPr/>
          <p:nvPr/>
        </p:nvSpPr>
        <p:spPr>
          <a:xfrm>
            <a:off x="1872000" y="244800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4" name="Line 30"/>
          <p:cNvSpPr/>
          <p:nvPr/>
        </p:nvSpPr>
        <p:spPr>
          <a:xfrm>
            <a:off x="1872000" y="327600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5" name="Line 31"/>
          <p:cNvSpPr/>
          <p:nvPr/>
        </p:nvSpPr>
        <p:spPr>
          <a:xfrm>
            <a:off x="1872000" y="3528000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6" name="Line 32"/>
          <p:cNvSpPr/>
          <p:nvPr/>
        </p:nvSpPr>
        <p:spPr>
          <a:xfrm>
            <a:off x="1872000" y="2448000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7" name="Line 33"/>
          <p:cNvSpPr/>
          <p:nvPr/>
        </p:nvSpPr>
        <p:spPr>
          <a:xfrm>
            <a:off x="2304000" y="2448000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8" name="Line 34"/>
          <p:cNvSpPr/>
          <p:nvPr/>
        </p:nvSpPr>
        <p:spPr>
          <a:xfrm>
            <a:off x="2664000" y="2448000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9" name="Line 35"/>
          <p:cNvSpPr/>
          <p:nvPr/>
        </p:nvSpPr>
        <p:spPr>
          <a:xfrm>
            <a:off x="3024000" y="2448000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0" name="CustomShape 36"/>
          <p:cNvSpPr/>
          <p:nvPr/>
        </p:nvSpPr>
        <p:spPr>
          <a:xfrm>
            <a:off x="1301400" y="4727880"/>
            <a:ext cx="5727960" cy="1065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treinamento: determinação dos pesos w e do limiar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w  = ?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θ  =</a:t>
            </a:r>
            <a:r>
              <a:rPr lang="pt-B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?</a:t>
            </a:r>
            <a:endParaRPr lang="pt-BR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Aplicação dos neurônios de McCulloch-Pitts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372" name="CustomShape 2"/>
          <p:cNvSpPr/>
          <p:nvPr/>
        </p:nvSpPr>
        <p:spPr>
          <a:xfrm>
            <a:off x="1219320" y="1600200"/>
            <a:ext cx="7768440" cy="492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Função lógica E:</a:t>
            </a:r>
            <a:endParaRPr lang="pt-BR" sz="2600" b="0" strike="noStrike" spc="-1">
              <a:latin typeface="Arial"/>
            </a:endParaRPr>
          </a:p>
        </p:txBody>
      </p:sp>
      <p:sp>
        <p:nvSpPr>
          <p:cNvPr id="373" name="CustomShape 3"/>
          <p:cNvSpPr/>
          <p:nvPr/>
        </p:nvSpPr>
        <p:spPr>
          <a:xfrm>
            <a:off x="3844080" y="253152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3880080" y="3360656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5" name="CustomShape 5"/>
          <p:cNvSpPr/>
          <p:nvPr/>
        </p:nvSpPr>
        <p:spPr>
          <a:xfrm>
            <a:off x="3924720" y="262692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3960720" y="3485936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2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5432400" y="2819520"/>
            <a:ext cx="715320" cy="68148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8"/>
          <p:cNvSpPr/>
          <p:nvPr/>
        </p:nvSpPr>
        <p:spPr>
          <a:xfrm>
            <a:off x="5635080" y="296136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379" name="Line 9"/>
          <p:cNvSpPr/>
          <p:nvPr/>
        </p:nvSpPr>
        <p:spPr>
          <a:xfrm>
            <a:off x="4348080" y="2819520"/>
            <a:ext cx="1084320" cy="3178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Line 10"/>
          <p:cNvSpPr/>
          <p:nvPr/>
        </p:nvSpPr>
        <p:spPr>
          <a:xfrm flipV="1">
            <a:off x="4391640" y="3323520"/>
            <a:ext cx="1040760" cy="323336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1" name="Line 11"/>
          <p:cNvSpPr/>
          <p:nvPr/>
        </p:nvSpPr>
        <p:spPr>
          <a:xfrm>
            <a:off x="6156000" y="3168000"/>
            <a:ext cx="3600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2" name="CustomShape 12"/>
          <p:cNvSpPr/>
          <p:nvPr/>
        </p:nvSpPr>
        <p:spPr>
          <a:xfrm>
            <a:off x="4668840" y="258012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83" name="CustomShape 13"/>
          <p:cNvSpPr/>
          <p:nvPr/>
        </p:nvSpPr>
        <p:spPr>
          <a:xfrm>
            <a:off x="4668840" y="3035520"/>
            <a:ext cx="3992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84" name="CustomShape 14"/>
          <p:cNvSpPr/>
          <p:nvPr/>
        </p:nvSpPr>
        <p:spPr>
          <a:xfrm>
            <a:off x="3209760" y="5084640"/>
            <a:ext cx="331560" cy="455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5" name="CustomShape 15"/>
          <p:cNvSpPr/>
          <p:nvPr/>
        </p:nvSpPr>
        <p:spPr>
          <a:xfrm>
            <a:off x="3205080" y="4320000"/>
            <a:ext cx="1186560" cy="356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6" name="CustomShape 16"/>
          <p:cNvSpPr/>
          <p:nvPr/>
        </p:nvSpPr>
        <p:spPr>
          <a:xfrm>
            <a:off x="6516000" y="2556000"/>
            <a:ext cx="2845440" cy="118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1,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f(y) =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0,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87" name="Line 17"/>
          <p:cNvSpPr/>
          <p:nvPr/>
        </p:nvSpPr>
        <p:spPr>
          <a:xfrm>
            <a:off x="7469640" y="253656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8" name="Line 18"/>
          <p:cNvSpPr/>
          <p:nvPr/>
        </p:nvSpPr>
        <p:spPr>
          <a:xfrm>
            <a:off x="7469640" y="325584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9" name="Line 19"/>
          <p:cNvSpPr/>
          <p:nvPr/>
        </p:nvSpPr>
        <p:spPr>
          <a:xfrm flipV="1">
            <a:off x="7469640" y="248400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0" name="Line 20"/>
          <p:cNvSpPr/>
          <p:nvPr/>
        </p:nvSpPr>
        <p:spPr>
          <a:xfrm flipV="1">
            <a:off x="7380720" y="306216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1" name="Line 21"/>
          <p:cNvSpPr/>
          <p:nvPr/>
        </p:nvSpPr>
        <p:spPr>
          <a:xfrm>
            <a:off x="7488720" y="376524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2" name="Line 22"/>
          <p:cNvSpPr/>
          <p:nvPr/>
        </p:nvSpPr>
        <p:spPr>
          <a:xfrm>
            <a:off x="7380720" y="31618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3"/>
          <p:cNvSpPr/>
          <p:nvPr/>
        </p:nvSpPr>
        <p:spPr>
          <a:xfrm>
            <a:off x="7048080" y="3930120"/>
            <a:ext cx="19396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y= 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06" name="CustomShape 36"/>
          <p:cNvSpPr/>
          <p:nvPr/>
        </p:nvSpPr>
        <p:spPr>
          <a:xfrm>
            <a:off x="1301400" y="4727880"/>
            <a:ext cx="5727960" cy="1065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- treinamento: determinação dos pesos w e do limiar 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w  = ?</a:t>
            </a:r>
            <a:endParaRPr lang="pt-BR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θ  =</a:t>
            </a: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?</a:t>
            </a:r>
            <a:endParaRPr lang="pt-BR" sz="2000" b="0" strike="noStrike" spc="-1" dirty="0">
              <a:latin typeface="Arial"/>
            </a:endParaRPr>
          </a:p>
        </p:txBody>
      </p:sp>
      <p:sp>
        <p:nvSpPr>
          <p:cNvPr id="38" name="CustomShape 24"/>
          <p:cNvSpPr/>
          <p:nvPr/>
        </p:nvSpPr>
        <p:spPr>
          <a:xfrm>
            <a:off x="1907696" y="2492896"/>
            <a:ext cx="113616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pc="-1" dirty="0">
                <a:solidFill>
                  <a:schemeClr val="bg1"/>
                </a:solidFill>
                <a:latin typeface="Arial"/>
              </a:rPr>
              <a:t>s</a:t>
            </a:r>
            <a:r>
              <a:rPr lang="pt-BR" spc="-1" baseline="-8000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s</a:t>
            </a:r>
            <a:r>
              <a:rPr lang="pt-BR" spc="-1" baseline="-8000" dirty="0">
                <a:solidFill>
                  <a:schemeClr val="bg1"/>
                </a:solidFill>
                <a:latin typeface="Arial"/>
              </a:rPr>
              <a:t>2</a:t>
            </a:r>
            <a:r>
              <a:rPr lang="pt-BR" sz="1800" b="0" strike="noStrike" spc="-1" baseline="-8000" dirty="0">
                <a:latin typeface="Arial"/>
              </a:rPr>
              <a:t>  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t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0 </a:t>
            </a:r>
            <a:r>
              <a:rPr lang="pt-BR" sz="1800" b="0" strike="noStrike" spc="-1" dirty="0">
                <a:latin typeface="Arial"/>
              </a:rPr>
              <a:t> 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</a:t>
            </a:r>
          </a:p>
        </p:txBody>
      </p:sp>
      <p:sp>
        <p:nvSpPr>
          <p:cNvPr id="39" name="Line 25"/>
          <p:cNvSpPr/>
          <p:nvPr/>
        </p:nvSpPr>
        <p:spPr>
          <a:xfrm>
            <a:off x="1835696" y="249289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26"/>
          <p:cNvSpPr/>
          <p:nvPr/>
        </p:nvSpPr>
        <p:spPr>
          <a:xfrm>
            <a:off x="1835696" y="386305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Line 27"/>
          <p:cNvSpPr/>
          <p:nvPr/>
        </p:nvSpPr>
        <p:spPr>
          <a:xfrm>
            <a:off x="1835696" y="2825824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Line 28"/>
          <p:cNvSpPr/>
          <p:nvPr/>
        </p:nvSpPr>
        <p:spPr>
          <a:xfrm>
            <a:off x="1835696" y="306889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Line 29"/>
          <p:cNvSpPr/>
          <p:nvPr/>
        </p:nvSpPr>
        <p:spPr>
          <a:xfrm>
            <a:off x="1835696" y="249289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30"/>
          <p:cNvSpPr/>
          <p:nvPr/>
        </p:nvSpPr>
        <p:spPr>
          <a:xfrm>
            <a:off x="1835696" y="332089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Line 31"/>
          <p:cNvSpPr/>
          <p:nvPr/>
        </p:nvSpPr>
        <p:spPr>
          <a:xfrm>
            <a:off x="1835696" y="3572896"/>
            <a:ext cx="115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Line 32"/>
          <p:cNvSpPr/>
          <p:nvPr/>
        </p:nvSpPr>
        <p:spPr>
          <a:xfrm>
            <a:off x="1835696" y="2492896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Line 33"/>
          <p:cNvSpPr/>
          <p:nvPr/>
        </p:nvSpPr>
        <p:spPr>
          <a:xfrm>
            <a:off x="2267696" y="2492896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34"/>
          <p:cNvSpPr/>
          <p:nvPr/>
        </p:nvSpPr>
        <p:spPr>
          <a:xfrm>
            <a:off x="2627696" y="2492896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Line 35"/>
          <p:cNvSpPr/>
          <p:nvPr/>
        </p:nvSpPr>
        <p:spPr>
          <a:xfrm>
            <a:off x="2987696" y="2492896"/>
            <a:ext cx="0" cy="137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Aplicação dos neurônios de McCulloch-Pitts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408" name="CustomShape 2"/>
          <p:cNvSpPr/>
          <p:nvPr/>
        </p:nvSpPr>
        <p:spPr>
          <a:xfrm>
            <a:off x="1219320" y="1600200"/>
            <a:ext cx="7768440" cy="492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120">
              <a:lnSpc>
                <a:spcPct val="100000"/>
              </a:lnSpc>
              <a:spcBef>
                <a:spcPts val="64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pt-BR" sz="2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Função lógica NÃO:</a:t>
            </a:r>
            <a:endParaRPr lang="pt-BR" sz="26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3844080" y="2855520"/>
            <a:ext cx="499320" cy="57240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0" name="CustomShape 4"/>
          <p:cNvSpPr/>
          <p:nvPr/>
        </p:nvSpPr>
        <p:spPr>
          <a:xfrm>
            <a:off x="3924720" y="295092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5432400" y="2819520"/>
            <a:ext cx="715320" cy="68148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2" name="CustomShape 6"/>
          <p:cNvSpPr/>
          <p:nvPr/>
        </p:nvSpPr>
        <p:spPr>
          <a:xfrm>
            <a:off x="5635080" y="296136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413" name="Line 7"/>
          <p:cNvSpPr/>
          <p:nvPr/>
        </p:nvSpPr>
        <p:spPr>
          <a:xfrm>
            <a:off x="4348080" y="3137400"/>
            <a:ext cx="108432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4" name="Line 8"/>
          <p:cNvSpPr/>
          <p:nvPr/>
        </p:nvSpPr>
        <p:spPr>
          <a:xfrm>
            <a:off x="6156000" y="3168000"/>
            <a:ext cx="3600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5" name="CustomShape 9"/>
          <p:cNvSpPr/>
          <p:nvPr/>
        </p:nvSpPr>
        <p:spPr>
          <a:xfrm>
            <a:off x="4709880" y="2580120"/>
            <a:ext cx="31644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?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16" name="CustomShape 10"/>
          <p:cNvSpPr/>
          <p:nvPr/>
        </p:nvSpPr>
        <p:spPr>
          <a:xfrm>
            <a:off x="4668840" y="3035520"/>
            <a:ext cx="398880" cy="455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7" name="CustomShape 11"/>
          <p:cNvSpPr/>
          <p:nvPr/>
        </p:nvSpPr>
        <p:spPr>
          <a:xfrm>
            <a:off x="3209760" y="5084640"/>
            <a:ext cx="331560" cy="455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8" name="CustomShape 12"/>
          <p:cNvSpPr/>
          <p:nvPr/>
        </p:nvSpPr>
        <p:spPr>
          <a:xfrm>
            <a:off x="3205080" y="4320000"/>
            <a:ext cx="1186560" cy="356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9" name="CustomShape 13"/>
          <p:cNvSpPr/>
          <p:nvPr/>
        </p:nvSpPr>
        <p:spPr>
          <a:xfrm>
            <a:off x="6516000" y="2556000"/>
            <a:ext cx="2845440" cy="118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1,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f(y) =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0, se y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20" name="Line 14"/>
          <p:cNvSpPr/>
          <p:nvPr/>
        </p:nvSpPr>
        <p:spPr>
          <a:xfrm>
            <a:off x="7469640" y="253656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Line 15"/>
          <p:cNvSpPr/>
          <p:nvPr/>
        </p:nvSpPr>
        <p:spPr>
          <a:xfrm>
            <a:off x="7469640" y="325584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Line 16"/>
          <p:cNvSpPr/>
          <p:nvPr/>
        </p:nvSpPr>
        <p:spPr>
          <a:xfrm flipV="1">
            <a:off x="7469640" y="248400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3" name="Line 17"/>
          <p:cNvSpPr/>
          <p:nvPr/>
        </p:nvSpPr>
        <p:spPr>
          <a:xfrm flipV="1">
            <a:off x="7380720" y="306216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4" name="Line 18"/>
          <p:cNvSpPr/>
          <p:nvPr/>
        </p:nvSpPr>
        <p:spPr>
          <a:xfrm>
            <a:off x="7488720" y="376524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5" name="Line 19"/>
          <p:cNvSpPr/>
          <p:nvPr/>
        </p:nvSpPr>
        <p:spPr>
          <a:xfrm>
            <a:off x="7380720" y="31618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6" name="CustomShape 20"/>
          <p:cNvSpPr/>
          <p:nvPr/>
        </p:nvSpPr>
        <p:spPr>
          <a:xfrm>
            <a:off x="7048080" y="3930120"/>
            <a:ext cx="1939680" cy="505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y= 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+w. x</a:t>
            </a:r>
            <a:r>
              <a:rPr lang="pt-BR" sz="2400" b="0" strike="noStrike" spc="-1" baseline="-25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27" name="CustomShape 21"/>
          <p:cNvSpPr/>
          <p:nvPr/>
        </p:nvSpPr>
        <p:spPr>
          <a:xfrm>
            <a:off x="1944000" y="2448000"/>
            <a:ext cx="719640" cy="162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pc="-1" dirty="0">
                <a:solidFill>
                  <a:schemeClr val="bg1"/>
                </a:solidFill>
                <a:latin typeface="Arial"/>
              </a:rPr>
              <a:t>s</a:t>
            </a:r>
            <a:r>
              <a:rPr lang="pt-BR" spc="-1" baseline="-8000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z="1800" b="0" strike="noStrike" spc="-1" baseline="-8000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t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pc="-1" dirty="0">
                <a:solidFill>
                  <a:schemeClr val="bg1"/>
                </a:solidFill>
                <a:latin typeface="Arial"/>
              </a:rPr>
              <a:t>1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0</a:t>
            </a:r>
            <a:r>
              <a:rPr lang="pt-BR" sz="1800" b="0" strike="noStrike" spc="-1" dirty="0">
                <a:latin typeface="Arial"/>
              </a:rPr>
              <a:t>   </a:t>
            </a:r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1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      </a:t>
            </a: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   </a:t>
            </a: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latin typeface="Arial"/>
              </a:rPr>
              <a:t>     </a:t>
            </a:r>
          </a:p>
        </p:txBody>
      </p:sp>
      <p:sp>
        <p:nvSpPr>
          <p:cNvPr id="428" name="Line 22"/>
          <p:cNvSpPr/>
          <p:nvPr/>
        </p:nvSpPr>
        <p:spPr>
          <a:xfrm>
            <a:off x="1872000" y="2736000"/>
            <a:ext cx="79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9" name="Line 23"/>
          <p:cNvSpPr/>
          <p:nvPr/>
        </p:nvSpPr>
        <p:spPr>
          <a:xfrm>
            <a:off x="1872000" y="3024000"/>
            <a:ext cx="79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Line 24"/>
          <p:cNvSpPr/>
          <p:nvPr/>
        </p:nvSpPr>
        <p:spPr>
          <a:xfrm>
            <a:off x="1872000" y="2448000"/>
            <a:ext cx="79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1" name="Line 25"/>
          <p:cNvSpPr/>
          <p:nvPr/>
        </p:nvSpPr>
        <p:spPr>
          <a:xfrm>
            <a:off x="1872000" y="3276000"/>
            <a:ext cx="792000" cy="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2" name="Line 26"/>
          <p:cNvSpPr/>
          <p:nvPr/>
        </p:nvSpPr>
        <p:spPr>
          <a:xfrm>
            <a:off x="1872000" y="2448000"/>
            <a:ext cx="0" cy="82800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3" name="Line 27"/>
          <p:cNvSpPr/>
          <p:nvPr/>
        </p:nvSpPr>
        <p:spPr>
          <a:xfrm>
            <a:off x="2304000" y="2445840"/>
            <a:ext cx="0" cy="8301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4" name="Line 28"/>
          <p:cNvSpPr/>
          <p:nvPr/>
        </p:nvSpPr>
        <p:spPr>
          <a:xfrm>
            <a:off x="2664000" y="2448000"/>
            <a:ext cx="0" cy="82800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5" name="CustomShape 29"/>
          <p:cNvSpPr/>
          <p:nvPr/>
        </p:nvSpPr>
        <p:spPr>
          <a:xfrm>
            <a:off x="1524240" y="4727880"/>
            <a:ext cx="5281560" cy="1065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treinamento: determinação do peso e do limiar </a:t>
            </a:r>
            <a:r>
              <a:rPr lang="el-G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w  = ?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θ  =</a:t>
            </a:r>
            <a:r>
              <a:rPr lang="pt-B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?</a:t>
            </a:r>
            <a:endParaRPr lang="pt-BR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219320" y="304920"/>
            <a:ext cx="7769880" cy="1558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Regra</a:t>
            </a:r>
            <a:r>
              <a:rPr lang="en-US" sz="4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Hebb</a:t>
            </a: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 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Primeira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proposta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treinamento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!</a:t>
            </a:r>
            <a:endParaRPr lang="pt-BR" sz="2800" b="0" strike="noStrike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219320" y="1862280"/>
            <a:ext cx="7769880" cy="4742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</a:pPr>
            <a:endParaRPr lang="pt-BR" sz="18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Donald  Hebb(psicólogo) (1949)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experimentos de Pavlov: condicionamento sugere alteração na estrutura sináptica.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Hipótese de Hebb: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“ Quando um axônio de uma célula A está próximo o suficiente de uma célula B para excitá-la e, repetida e persistentemente, toma parte em fazê-la disparar, algum processo de crescimento ou mudança metabólica ocorre em uma ou ambas as células de maneira que a eficiência de A, como uma das células que fazem B disparar, é aumentada”. 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	</a:t>
            </a:r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219320" y="304920"/>
            <a:ext cx="7769880" cy="1203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Regra de Hebb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219320" y="1600200"/>
            <a:ext cx="7769880" cy="5255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A alteração na eficiência sináptica é chamada de </a:t>
            </a:r>
            <a:r>
              <a:rPr lang="en-US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plasticidade sináptica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.</a:t>
            </a: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- Plasticidade sináptica resulta em um </a:t>
            </a:r>
            <a:r>
              <a:rPr lang="en-US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modelo de aprendizado.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</a:t>
            </a:r>
            <a:r>
              <a:rPr lang="en-US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- Regra de Hebb </a:t>
            </a: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ou aprendizado hebbiano.</a:t>
            </a: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	</a:t>
            </a: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</a:t>
            </a:r>
            <a:r>
              <a:rPr lang="en-US" sz="2800" b="0" strike="noStrike" spc="-1">
                <a:solidFill>
                  <a:srgbClr val="FFFF00"/>
                </a:solidFill>
                <a:latin typeface="Times New Roman"/>
                <a:ea typeface="DejaVu Sans"/>
              </a:rPr>
              <a:t>Δw = x . t</a:t>
            </a:r>
            <a:endParaRPr lang="pt-BR" sz="28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onde,  x = sinal de entrada</a:t>
            </a:r>
            <a:endParaRPr lang="pt-BR" sz="2400" b="0" strike="noStrike" spc="-1">
              <a:latin typeface="Arial"/>
            </a:endParaRPr>
          </a:p>
          <a:p>
            <a:pPr marL="343080" indent="-34056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        t = resposta desejada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2000160" y="4429080"/>
            <a:ext cx="640440" cy="6404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4"/>
          <p:cNvSpPr/>
          <p:nvPr/>
        </p:nvSpPr>
        <p:spPr>
          <a:xfrm>
            <a:off x="5143680" y="4429080"/>
            <a:ext cx="640440" cy="6404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5"/>
          <p:cNvSpPr/>
          <p:nvPr/>
        </p:nvSpPr>
        <p:spPr>
          <a:xfrm flipV="1">
            <a:off x="2714760" y="4745880"/>
            <a:ext cx="2426400" cy="33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2600" cap="sq">
            <a:solidFill>
              <a:srgbClr val="FFFFFF"/>
            </a:solidFill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CustomShape 6"/>
          <p:cNvSpPr/>
          <p:nvPr/>
        </p:nvSpPr>
        <p:spPr>
          <a:xfrm>
            <a:off x="5929200" y="4784760"/>
            <a:ext cx="854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2600" cap="sq">
            <a:solidFill>
              <a:srgbClr val="FFFFFF"/>
            </a:solidFill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CustomShape 7"/>
          <p:cNvSpPr/>
          <p:nvPr/>
        </p:nvSpPr>
        <p:spPr>
          <a:xfrm>
            <a:off x="2167560" y="4500720"/>
            <a:ext cx="399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A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91" name="CustomShape 8"/>
          <p:cNvSpPr/>
          <p:nvPr/>
        </p:nvSpPr>
        <p:spPr>
          <a:xfrm>
            <a:off x="5289120" y="4500720"/>
            <a:ext cx="382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B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92" name="CustomShape 9"/>
          <p:cNvSpPr/>
          <p:nvPr/>
        </p:nvSpPr>
        <p:spPr>
          <a:xfrm>
            <a:off x="4146480" y="4286160"/>
            <a:ext cx="43560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w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3" name="CustomShape 10"/>
          <p:cNvSpPr/>
          <p:nvPr/>
        </p:nvSpPr>
        <p:spPr>
          <a:xfrm>
            <a:off x="6931080" y="4500720"/>
            <a:ext cx="27864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t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4" name="CustomShape 11"/>
          <p:cNvSpPr/>
          <p:nvPr/>
        </p:nvSpPr>
        <p:spPr>
          <a:xfrm>
            <a:off x="2716920" y="4286160"/>
            <a:ext cx="35784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Regra de </a:t>
            </a:r>
            <a:r>
              <a:rPr lang="pt-BR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Hebb</a:t>
            </a:r>
            <a:endParaRPr lang="pt-BR" sz="3200" b="0" strike="noStrike" spc="-1" dirty="0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1368000" y="1584000"/>
            <a:ext cx="7768080" cy="4920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CustomShape 3"/>
          <p:cNvSpPr/>
          <p:nvPr/>
        </p:nvSpPr>
        <p:spPr>
          <a:xfrm>
            <a:off x="2366686" y="2539489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CustomShape 4"/>
          <p:cNvSpPr/>
          <p:nvPr/>
        </p:nvSpPr>
        <p:spPr>
          <a:xfrm>
            <a:off x="2403055" y="3388212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5"/>
          <p:cNvSpPr/>
          <p:nvPr/>
        </p:nvSpPr>
        <p:spPr>
          <a:xfrm>
            <a:off x="2447326" y="2598889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24" name="CustomShape 6"/>
          <p:cNvSpPr/>
          <p:nvPr/>
        </p:nvSpPr>
        <p:spPr>
          <a:xfrm>
            <a:off x="2497645" y="3458772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 dirty="0">
                <a:solidFill>
                  <a:srgbClr val="200B5B"/>
                </a:solidFill>
                <a:latin typeface="Times New Roman"/>
                <a:ea typeface="DejaVu Sans"/>
              </a:rPr>
              <a:t>2</a:t>
            </a:r>
            <a:endParaRPr lang="pt-BR" sz="1600" b="0" strike="noStrike" spc="-1" dirty="0">
              <a:latin typeface="Arial"/>
            </a:endParaRPr>
          </a:p>
        </p:txBody>
      </p:sp>
      <p:sp>
        <p:nvSpPr>
          <p:cNvPr id="125" name="CustomShape 7"/>
          <p:cNvSpPr/>
          <p:nvPr/>
        </p:nvSpPr>
        <p:spPr>
          <a:xfrm>
            <a:off x="4005360" y="2892600"/>
            <a:ext cx="714960" cy="6811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CustomShape 8"/>
          <p:cNvSpPr/>
          <p:nvPr/>
        </p:nvSpPr>
        <p:spPr>
          <a:xfrm>
            <a:off x="4208040" y="303444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27" name="Line 9"/>
          <p:cNvSpPr/>
          <p:nvPr/>
        </p:nvSpPr>
        <p:spPr>
          <a:xfrm flipV="1">
            <a:off x="2964240" y="3355739"/>
            <a:ext cx="1074824" cy="307479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Line 11"/>
          <p:cNvSpPr/>
          <p:nvPr/>
        </p:nvSpPr>
        <p:spPr>
          <a:xfrm>
            <a:off x="4703202" y="3241080"/>
            <a:ext cx="3600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12"/>
          <p:cNvSpPr/>
          <p:nvPr/>
        </p:nvSpPr>
        <p:spPr>
          <a:xfrm>
            <a:off x="3213046" y="307890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32" name="CustomShape 14"/>
          <p:cNvSpPr/>
          <p:nvPr/>
        </p:nvSpPr>
        <p:spPr>
          <a:xfrm>
            <a:off x="1785624" y="4328748"/>
            <a:ext cx="1186200" cy="355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CustomShape 15"/>
          <p:cNvSpPr/>
          <p:nvPr/>
        </p:nvSpPr>
        <p:spPr>
          <a:xfrm>
            <a:off x="5062453" y="2661611"/>
            <a:ext cx="3257297" cy="119887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1, se yin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f(yin) =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-1, se yin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134" name="Line 16"/>
          <p:cNvSpPr/>
          <p:nvPr/>
        </p:nvSpPr>
        <p:spPr>
          <a:xfrm>
            <a:off x="6235785" y="260964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Line 17"/>
          <p:cNvSpPr/>
          <p:nvPr/>
        </p:nvSpPr>
        <p:spPr>
          <a:xfrm>
            <a:off x="6235785" y="332892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Line 18"/>
          <p:cNvSpPr/>
          <p:nvPr/>
        </p:nvSpPr>
        <p:spPr>
          <a:xfrm flipV="1">
            <a:off x="6235785" y="25570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Line 19"/>
          <p:cNvSpPr/>
          <p:nvPr/>
        </p:nvSpPr>
        <p:spPr>
          <a:xfrm flipV="1">
            <a:off x="6146865" y="313524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Line 20"/>
          <p:cNvSpPr/>
          <p:nvPr/>
        </p:nvSpPr>
        <p:spPr>
          <a:xfrm>
            <a:off x="6254865" y="383832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Line 21"/>
          <p:cNvSpPr/>
          <p:nvPr/>
        </p:nvSpPr>
        <p:spPr>
          <a:xfrm>
            <a:off x="6146865" y="323496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22"/>
          <p:cNvSpPr/>
          <p:nvPr/>
        </p:nvSpPr>
        <p:spPr>
          <a:xfrm>
            <a:off x="3286624" y="4506588"/>
            <a:ext cx="2793948" cy="460211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yin= 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x</a:t>
            </a:r>
            <a:r>
              <a:rPr lang="pt-BR" sz="2400" b="0" strike="noStrike" spc="-1" baseline="-25000" dirty="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x</a:t>
            </a:r>
            <a:r>
              <a:rPr lang="pt-BR" sz="2400" b="0" strike="noStrike" spc="-1" baseline="-25000" dirty="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+b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146" name="Line 28"/>
          <p:cNvSpPr/>
          <p:nvPr/>
        </p:nvSpPr>
        <p:spPr>
          <a:xfrm>
            <a:off x="2889136" y="2825509"/>
            <a:ext cx="1123064" cy="33450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Line 30"/>
          <p:cNvSpPr/>
          <p:nvPr/>
        </p:nvSpPr>
        <p:spPr>
          <a:xfrm>
            <a:off x="4332960" y="2017080"/>
            <a:ext cx="28440" cy="87336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31"/>
          <p:cNvSpPr/>
          <p:nvPr/>
        </p:nvSpPr>
        <p:spPr>
          <a:xfrm>
            <a:off x="3175426" y="255708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1" name="CustomShape 33"/>
          <p:cNvSpPr/>
          <p:nvPr/>
        </p:nvSpPr>
        <p:spPr>
          <a:xfrm>
            <a:off x="4354560" y="2172600"/>
            <a:ext cx="3330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2" name="CustomShape 34"/>
          <p:cNvSpPr/>
          <p:nvPr/>
        </p:nvSpPr>
        <p:spPr>
          <a:xfrm>
            <a:off x="4174560" y="1560600"/>
            <a:ext cx="3330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0EB47AF-D52C-23E3-C4D1-7CA9888EE37E}"/>
              </a:ext>
            </a:extLst>
          </p:cNvPr>
          <p:cNvSpPr txBox="1"/>
          <p:nvPr/>
        </p:nvSpPr>
        <p:spPr>
          <a:xfrm>
            <a:off x="3813949" y="38918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= limiar</a:t>
            </a:r>
            <a:endParaRPr lang="pt-BR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219320" y="304920"/>
            <a:ext cx="7769880" cy="1203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Regra de Hebb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1153800" y="1842480"/>
            <a:ext cx="7769880" cy="4855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Algoritmo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treinamento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(</a:t>
            </a:r>
            <a:r>
              <a:rPr lang="en-US" sz="20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para entradas e </a:t>
            </a:r>
            <a:r>
              <a:rPr lang="en-US" sz="20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saídas</a:t>
            </a:r>
            <a:r>
              <a:rPr lang="en-US" sz="20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bipolares</a:t>
            </a:r>
            <a:r>
              <a:rPr lang="en-US" sz="20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):</a:t>
            </a:r>
            <a:endParaRPr lang="pt-BR" sz="20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pt-BR" sz="20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Passo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0.   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Inicializar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todos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os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pesos:  </a:t>
            </a: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FFFFFF"/>
                </a:solidFill>
                <a:latin typeface="Times New Roman"/>
                <a:ea typeface="DejaVu Sans"/>
              </a:rPr>
              <a:t>                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= 0  (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= 1 a n)</a:t>
            </a: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FFFFFF"/>
                </a:solidFill>
                <a:latin typeface="Times New Roman"/>
              </a:rPr>
              <a:t>                   b = 0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Passo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1.  Para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cada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par  (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vetor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de entrada,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saida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),</a:t>
            </a:r>
            <a:r>
              <a:rPr lang="en-US" sz="2400" b="0" strike="noStrike" spc="-1" dirty="0">
                <a:solidFill>
                  <a:srgbClr val="EEB00B"/>
                </a:solidFill>
                <a:latin typeface="Times New Roman"/>
                <a:ea typeface="DejaVu Sans"/>
              </a:rPr>
              <a:t> (</a:t>
            </a:r>
            <a:r>
              <a:rPr lang="en-US" sz="2400" b="1" strike="noStrike" spc="-1" dirty="0" err="1">
                <a:solidFill>
                  <a:srgbClr val="EEB00B"/>
                </a:solidFill>
                <a:latin typeface="Times New Roman"/>
                <a:ea typeface="DejaVu Sans"/>
              </a:rPr>
              <a:t>s</a:t>
            </a:r>
            <a:r>
              <a:rPr lang="en-US" sz="2400" b="0" strike="noStrike" spc="-1" dirty="0" err="1">
                <a:solidFill>
                  <a:srgbClr val="EEB00B"/>
                </a:solidFill>
                <a:latin typeface="Times New Roman"/>
                <a:ea typeface="DejaVu Sans"/>
              </a:rPr>
              <a:t>:t</a:t>
            </a:r>
            <a:r>
              <a:rPr lang="en-US" sz="2400" b="0" strike="noStrike" spc="-1" dirty="0">
                <a:solidFill>
                  <a:srgbClr val="EEB00B"/>
                </a:solidFill>
                <a:latin typeface="Times New Roman"/>
                <a:ea typeface="DejaVu Sans"/>
              </a:rPr>
              <a:t>)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,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faça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: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             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Passo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2.  x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i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=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s</a:t>
            </a:r>
            <a:r>
              <a:rPr lang="en-US" sz="2400" b="0" strike="noStrike" spc="-1" baseline="-25000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(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= 1 a n)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             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Passo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3. y = t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             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Passo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4.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Ajustar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os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pesos: 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                           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(novo) = 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w</a:t>
            </a:r>
            <a:r>
              <a:rPr lang="en-US" sz="2400" b="0" strike="noStrike" spc="-1" baseline="-25000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(anterior) + x</a:t>
            </a:r>
            <a:r>
              <a:rPr lang="en-US" sz="2400" b="0" strike="noStrike" spc="-1" baseline="-25000" dirty="0">
                <a:solidFill>
                  <a:srgbClr val="FFFFFF"/>
                </a:solidFill>
                <a:latin typeface="Times New Roman"/>
                <a:ea typeface="DejaVu Sans"/>
              </a:rPr>
              <a:t>i 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.y   (</a:t>
            </a:r>
            <a:r>
              <a:rPr lang="en-US" sz="2400" b="0" strike="noStrike" spc="-1" dirty="0" err="1">
                <a:solidFill>
                  <a:srgbClr val="FFFFFF"/>
                </a:solidFill>
                <a:latin typeface="Times New Roman"/>
                <a:ea typeface="DejaVu Sans"/>
              </a:rPr>
              <a:t>i</a:t>
            </a: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= 1 a n)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                              b(novo) = b(anterior) + y</a:t>
            </a: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pt-BR" sz="2400" b="0" strike="noStrike" spc="-1" dirty="0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219320" y="304920"/>
            <a:ext cx="7769880" cy="1203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Trabalho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02: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Aplicação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da </a:t>
            </a:r>
            <a:r>
              <a:rPr lang="en-US" sz="32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Regra</a:t>
            </a:r>
            <a:r>
              <a:rPr lang="en-US" sz="32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Hebb</a:t>
            </a:r>
            <a:endParaRPr lang="pt-BR" sz="3200" b="0" strike="noStrike" spc="-1" dirty="0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1153800" y="1842480"/>
            <a:ext cx="7769880" cy="4855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1) Considere as 16 funções lógicas que podem ser construidas a partir de 2 variáveis.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    Mostre que a regra de Hebb pode encontrar os pesos das redes neurais correspondentes a 14 destas funções lógicas quando for usada a representação bipolar.</a:t>
            </a:r>
            <a:endParaRPr lang="pt-BR" sz="2400" b="0" strike="noStrike" spc="-1">
              <a:latin typeface="Arial"/>
            </a:endParaRPr>
          </a:p>
          <a:p>
            <a:pPr marL="343080" indent="-340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3" ma:contentTypeDescription="Crie um novo documento." ma:contentTypeScope="" ma:versionID="6b46a758bcee6fc954b4405472999535">
  <xsd:schema xmlns:xsd="http://www.w3.org/2001/XMLSchema" xmlns:xs="http://www.w3.org/2001/XMLSchema" xmlns:p="http://schemas.microsoft.com/office/2006/metadata/properties" xmlns:ns2="f86bb142-cfc2-49f8-a6a3-1f1ebe9ac78f" targetNamespace="http://schemas.microsoft.com/office/2006/metadata/properties" ma:root="true" ma:fieldsID="bbfb16fa2ba3bfa7298bbbbbdbccf4e8" ns2:_="">
    <xsd:import namespace="f86bb142-cfc2-49f8-a6a3-1f1ebe9a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b142-cfc2-49f8-a6a3-1f1ebe9a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AA2FEC-0CD7-439B-9096-9C1E31B887B3}"/>
</file>

<file path=customXml/itemProps2.xml><?xml version="1.0" encoding="utf-8"?>
<ds:datastoreItem xmlns:ds="http://schemas.openxmlformats.org/officeDocument/2006/customXml" ds:itemID="{18911A2F-C69C-43B9-AFE7-DBC4CDC0CF30}"/>
</file>

<file path=customXml/itemProps3.xml><?xml version="1.0" encoding="utf-8"?>
<ds:datastoreItem xmlns:ds="http://schemas.openxmlformats.org/officeDocument/2006/customXml" ds:itemID="{925233A6-ABF9-44EE-BDBD-4F6DF39965E7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1327</TotalTime>
  <Words>1153</Words>
  <Application>Microsoft Office PowerPoint</Application>
  <PresentationFormat>Apresentação na tela (4:3)</PresentationFormat>
  <Paragraphs>259</Paragraphs>
  <Slides>21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Equation.3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Keiji</dc:creator>
  <dc:description/>
  <cp:lastModifiedBy>Keiji Yamanaka</cp:lastModifiedBy>
  <cp:revision>92</cp:revision>
  <dcterms:created xsi:type="dcterms:W3CDTF">1601-01-01T00:00:00Z</dcterms:created>
  <dcterms:modified xsi:type="dcterms:W3CDTF">2026-08-20T19:31:42Z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ContentTypeId">
    <vt:lpwstr>0x010100B6E0D263096AE543989EDC63A5F204DE</vt:lpwstr>
  </property>
</Properties>
</file>